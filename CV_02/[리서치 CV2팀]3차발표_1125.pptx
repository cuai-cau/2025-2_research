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anum Gothic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IsFY6u/lpH9nviogJMLidqJV1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anumGothic-bold.fntdata"/><Relationship Id="rId10" Type="http://schemas.openxmlformats.org/officeDocument/2006/relationships/slide" Target="slides/slide5.xml"/><Relationship Id="rId21" Type="http://schemas.openxmlformats.org/officeDocument/2006/relationships/font" Target="fonts/NanumGothic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0c4636bd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9f0c4636bd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0c4636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9f0c4636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0c4636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f0c4636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0c4636b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9f0c4636b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297eb5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a9297eb5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9297eb5c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9297eb5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297eb5c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9297eb5c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297eb5c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a9297eb5c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9297eb5c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9297eb5c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297eb5c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a9297eb5c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297eb5c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9297eb5c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f0c4636b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f0c4636b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39750" y="2710050"/>
            <a:ext cx="4979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ko" sz="25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CV Research 2팀</a:t>
            </a:r>
            <a:endParaRPr b="1" i="0" sz="25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2025.11.</a:t>
            </a:r>
            <a:r>
              <a:rPr lang="ko">
                <a:solidFill>
                  <a:srgbClr val="19264B"/>
                </a:solidFill>
              </a:rPr>
              <a:t>25</a:t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" sz="1100" u="none" cap="none" strike="noStrike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" sz="1100">
                <a:solidFill>
                  <a:srgbClr val="19264B"/>
                </a:solidFill>
              </a:rPr>
              <a:t>김형석</a:t>
            </a:r>
            <a:endParaRPr b="0" i="0" sz="1100" u="none" cap="none" strike="noStrike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이곳에 만나서 찍은 사진을 넣어주세요.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(비대면일 경우엔 화면 캡쳐 이용)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얼굴이 나오게 찍어주셔야 합니다:D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스터디원 소개 및 만남 인증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137600" y="1820125"/>
            <a:ext cx="228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1 : 김형석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2 : 최승훈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250" y="1262100"/>
            <a:ext cx="4287600" cy="341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목차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2696025" y="986600"/>
            <a:ext cx="438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805800" y="1009425"/>
            <a:ext cx="36597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문제 및 연구 목표</a:t>
            </a:r>
            <a:b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연구 아이디어</a:t>
            </a:r>
            <a:b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설계</a:t>
            </a:r>
            <a:b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결과 분석</a:t>
            </a:r>
            <a:b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ko" sz="1800">
                <a:solidFill>
                  <a:schemeClr val="dk1"/>
                </a:solidFill>
              </a:rPr>
              <a:t>결론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f0c4636bd_2_2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g39f0c4636bd_2_2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5" name="Google Shape;85;g39f0c4636bd_2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9f0c4636bd_2_23"/>
          <p:cNvSpPr txBox="1"/>
          <p:nvPr/>
        </p:nvSpPr>
        <p:spPr>
          <a:xfrm>
            <a:off x="1630775" y="1986975"/>
            <a:ext cx="67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모델이 '사람'을 탐지하는 과정에서 '피부색'처럼 쉽고 명확하지만 편향된 특징(shortcut)에 과도하게 의존하도록 학습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9f0c4636bd_2_2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문제 및 연구 목표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88" name="Google Shape;88;g39f0c4636bd_2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526" y="188500"/>
            <a:ext cx="5268624" cy="15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9f0c4636bd_2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5513" y="2725875"/>
            <a:ext cx="4116218" cy="245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0c4636bd_0_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39f0c4636bd_0_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" name="Google Shape;96;g39f0c4636bd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9f0c4636bd_0_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모델 아이디어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98" name="Google Shape;98;g39f0c4636bd_0_4"/>
          <p:cNvSpPr txBox="1"/>
          <p:nvPr/>
        </p:nvSpPr>
        <p:spPr>
          <a:xfrm>
            <a:off x="2140525" y="1534450"/>
            <a:ext cx="64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모델이 인종에 편향되도록 판단하게 하는 오염된 특징을 선별하여 인종과 관련없는 정보로 face recognition을 하도록 함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9f0c4636bd_0_4"/>
          <p:cNvSpPr txBox="1"/>
          <p:nvPr/>
        </p:nvSpPr>
        <p:spPr>
          <a:xfrm>
            <a:off x="2188225" y="2864275"/>
            <a:ext cx="63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Adversarial learning + XAI(explainable AI)의 아이디어를 적용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-&gt; XAI로 선별된 특징에 대해 적대적 학습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0c4636bd_0_2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g39f0c4636bd_0_2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" name="Google Shape;106;g39f0c4636bd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9f0c4636bd_0_2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모델 설계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08" name="Google Shape;108;g39f0c4636bd_0_26"/>
          <p:cNvSpPr txBox="1"/>
          <p:nvPr/>
        </p:nvSpPr>
        <p:spPr>
          <a:xfrm>
            <a:off x="1722099" y="864900"/>
            <a:ext cx="56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편향된 A 모델 -&gt; B 모델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9f0c4636bd_0_26"/>
          <p:cNvSpPr txBox="1"/>
          <p:nvPr/>
        </p:nvSpPr>
        <p:spPr>
          <a:xfrm>
            <a:off x="1767108" y="2571750"/>
            <a:ext cx="56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새로운 A 모델 &lt;-&gt; C 모델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9f0c4636bd_0_26"/>
          <p:cNvSpPr txBox="1"/>
          <p:nvPr/>
        </p:nvSpPr>
        <p:spPr>
          <a:xfrm>
            <a:off x="2167630" y="1359875"/>
            <a:ext cx="708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흑인 data가 sparse한 dataset으로 A 모델을 train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B 모델은 A 모델이 출력한 사진의 feature vector를 통해 인종 예측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인종 예측에 사용된 주요 feature들은 인종 편향을 일으키는 특징 n개 추출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이때 n은 hyperparameter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9f0c4636bd_0_26"/>
          <p:cNvSpPr txBox="1"/>
          <p:nvPr/>
        </p:nvSpPr>
        <p:spPr>
          <a:xfrm>
            <a:off x="2167630" y="3097175"/>
            <a:ext cx="708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모델의 input layer로 n개의 뉴런 생성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C 모델은 B 모델이 식별한 n개의 특징만 보고 A 모델이 인식한 사진의 인종 판단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C 모델은 인종을 정확히 판단(오류율 낮추기)하려 하고, 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모델은 C의 오류율을 높이도록(C를 속이도록) 경쟁하는 것이 목표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-&gt; A 모델은 n개의 특징에서 인종에 편향된 정보를 줄임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f0c4636bd_0_40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9f0c4636bd_0_40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8" name="Google Shape;118;g39f0c4636bd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9f0c4636bd_0_40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" sz="2000" u="none" cap="none" strike="noStrik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모델 가설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20" name="Google Shape;120;g39f0c4636bd_0_40"/>
          <p:cNvSpPr txBox="1"/>
          <p:nvPr/>
        </p:nvSpPr>
        <p:spPr>
          <a:xfrm>
            <a:off x="1699225" y="1504025"/>
            <a:ext cx="70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A와 C 모델이 적대적 학습을 하면 A 모델은 n개의 인종 오염 특징에서 인종 특성을 줄이면서 얼굴 인식을 하게 될 것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f0c4636bd_0_40"/>
          <p:cNvSpPr txBox="1"/>
          <p:nvPr/>
        </p:nvSpPr>
        <p:spPr>
          <a:xfrm>
            <a:off x="1699225" y="2752100"/>
            <a:ext cx="70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k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선별적으로 오염 특징을 선택하면 얼굴 인식 성능에 영향을 줄 수 있는 feature들은 살려 두어 얼굴 인식 성능 유지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297eb5c8_0_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3a9297eb5c8_0_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8" name="Google Shape;128;g3a9297eb5c8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9297eb5c8_0_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모델 아키텍처 소개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30" name="Google Shape;130;g3a9297eb5c8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975" y="850625"/>
            <a:ext cx="7231060" cy="40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297eb5c8_0_19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a9297eb5c8_0_19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7" name="Google Shape;137;g3a9297eb5c8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9297eb5c8_0_19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코드 분석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39" name="Google Shape;139;g3a9297eb5c8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0" y="799475"/>
            <a:ext cx="3835225" cy="403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297eb5c8_0_3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a9297eb5c8_0_3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6" name="Google Shape;146;g3a9297eb5c8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9297eb5c8_0_3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결과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48" name="Google Shape;148;g3a9297eb5c8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0" y="951875"/>
            <a:ext cx="3860825" cy="191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a9297eb5c8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8975" y="3026125"/>
            <a:ext cx="3785353" cy="187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a9297eb5c8_0_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6728" y="1005450"/>
            <a:ext cx="3644871" cy="1808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a9297eb5c8_0_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6725" y="2966514"/>
            <a:ext cx="3644875" cy="1808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9297eb5c8_0_5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g3a9297eb5c8_0_5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8" name="Google Shape;158;g3a9297eb5c8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a9297eb5c8_0_5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결과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60" name="Google Shape;160;g3a9297eb5c8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0" y="951875"/>
            <a:ext cx="7658099" cy="279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297eb5c8_0_6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g3a9297eb5c8_0_6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7" name="Google Shape;167;g3a9297eb5c8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a9297eb5c8_0_63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결과 </a:t>
            </a: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분석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69" name="Google Shape;169;g3a9297eb5c8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0450" y="1122513"/>
            <a:ext cx="5841174" cy="289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9297eb5c8_0_4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g3a9297eb5c8_0_4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6" name="Google Shape;176;g3a9297eb5c8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a9297eb5c8_0_4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결과 </a:t>
            </a: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분석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78" name="Google Shape;178;g3a9297eb5c8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3775" y="799475"/>
            <a:ext cx="6976222" cy="403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297eb5c8_0_80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g3a9297eb5c8_0_80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5" name="Google Shape;185;g3a9297eb5c8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a9297eb5c8_0_80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" sz="200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실험 결과</a:t>
            </a:r>
            <a:endParaRPr b="0" i="0" sz="2000" u="none" cap="none" strike="noStrike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87" name="Google Shape;187;g3a9297eb5c8_0_80"/>
          <p:cNvSpPr txBox="1"/>
          <p:nvPr/>
        </p:nvSpPr>
        <p:spPr>
          <a:xfrm>
            <a:off x="952500" y="1081800"/>
            <a:ext cx="86466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XAI 기반의 '시선 교정' 확인: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ko" sz="1600">
                <a:solidFill>
                  <a:schemeClr val="dk1"/>
                </a:solidFill>
              </a:rPr>
              <a:t>Grad-CAM 분석 결과, 기존 모델은 피부색(Texture)과 배경에 의존하는 경향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ko" sz="1600">
                <a:solidFill>
                  <a:schemeClr val="dk1"/>
                </a:solidFill>
              </a:rPr>
              <a:t>제안 모델은 피부색 정보를 억제함으로써 눈, 코, 입 등 '얼굴의 구조적 특징(Shape)'에 집중하도록 변화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능동적 편향 제어(Active Bias Mitigation):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ko" sz="1600">
                <a:solidFill>
                  <a:schemeClr val="dk1"/>
                </a:solidFill>
              </a:rPr>
              <a:t>단순히 데이터를 늘리는 수동적 방식이 아니라, </a:t>
            </a:r>
            <a:r>
              <a:rPr lang="ko" sz="1600">
                <a:solidFill>
                  <a:schemeClr val="dk1"/>
                </a:solidFill>
              </a:rPr>
              <a:t>적대적 학습을 통해 모델이 </a:t>
            </a:r>
            <a:br>
              <a:rPr lang="ko" sz="1600">
                <a:solidFill>
                  <a:schemeClr val="dk1"/>
                </a:solidFill>
              </a:rPr>
            </a:br>
            <a:r>
              <a:rPr lang="ko" sz="1600">
                <a:solidFill>
                  <a:schemeClr val="dk1"/>
                </a:solidFill>
              </a:rPr>
              <a:t>학습해야 할 특징을 능동적으로 제어하는 방법론의 유효성을 증명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최종 의의 (Significance):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ko" sz="1600">
                <a:solidFill>
                  <a:schemeClr val="dk1"/>
                </a:solidFill>
              </a:rPr>
              <a:t>본 연구는 추가적인 데이터 수집 비용 없이, 알고리즘의 개선만으로 AI의 인종적 편향을 효과적으로 완화할 수 있는 경제적이고 실용적인 솔루션을 제시.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0c4636bd_0_5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g39f0c4636bd_0_5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4" name="Google Shape;194;g39f0c4636bd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9f0c4636bd_0_57"/>
          <p:cNvSpPr txBox="1"/>
          <p:nvPr/>
        </p:nvSpPr>
        <p:spPr>
          <a:xfrm>
            <a:off x="3810000" y="2217750"/>
            <a:ext cx="2373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ko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