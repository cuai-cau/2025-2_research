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anumGothicExtraBold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r8jy0WvZY3kwBK4TIHHQ4c07T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anumGothicExtraBold-bold.fntdata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f0c4636bd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9f0c4636bd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0c4636b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9f0c4636b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0c4636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9f0c4636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0c4636b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9f0c4636b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0c4636bd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9f0c4636bd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f0c4636b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9f0c4636b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339750" y="2710050"/>
            <a:ext cx="49794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ko" sz="25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CV Research 2팀</a:t>
            </a:r>
            <a:endParaRPr b="1" i="0" sz="25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ko">
                <a:solidFill>
                  <a:srgbClr val="19264B"/>
                </a:solidFill>
              </a:rPr>
              <a:t>5</a:t>
            </a: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">
                <a:solidFill>
                  <a:srgbClr val="19264B"/>
                </a:solidFill>
              </a:rPr>
              <a:t>11</a:t>
            </a: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.0</a:t>
            </a:r>
            <a:r>
              <a:rPr lang="ko">
                <a:solidFill>
                  <a:srgbClr val="19264B"/>
                </a:solidFill>
              </a:rPr>
              <a:t>4</a:t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발표자 : </a:t>
            </a:r>
            <a:r>
              <a:rPr lang="ko" sz="1100">
                <a:solidFill>
                  <a:srgbClr val="19264B"/>
                </a:solidFill>
              </a:rPr>
              <a:t>최승훈</a:t>
            </a:r>
            <a:endParaRPr b="0" i="0" sz="11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cap="flat" cmpd="sng" w="38100">
            <a:solidFill>
              <a:srgbClr val="1926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이곳에 만나서 찍은 사진을 넣어주세요.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(비대면일 경우엔 화면 캡쳐 이용)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얼굴이 나오게 찍어주셔야 합니다:D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스터디원 소개 및 만남 인증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6137600" y="1820125"/>
            <a:ext cx="228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1 : 김형석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2 : 최승훈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2100" y="1544138"/>
            <a:ext cx="4224750" cy="2850525"/>
          </a:xfrm>
          <a:prstGeom prst="rect">
            <a:avLst/>
          </a:prstGeom>
          <a:solidFill>
            <a:srgbClr val="EFEFEF"/>
          </a:solidFill>
          <a:ln cap="flat" cmpd="sng" w="38100">
            <a:solidFill>
              <a:srgbClr val="19264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2696025" y="986600"/>
            <a:ext cx="438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805800" y="1009425"/>
            <a:ext cx="3659700" cy="3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 sz="1800">
                <a:solidFill>
                  <a:schemeClr val="dk1"/>
                </a:solidFill>
              </a:rPr>
              <a:t>문제 및 연구 목표</a:t>
            </a:r>
            <a:br>
              <a:rPr lang="ko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 sz="1800">
                <a:solidFill>
                  <a:schemeClr val="dk1"/>
                </a:solidFill>
              </a:rPr>
              <a:t>연구 아이디어</a:t>
            </a:r>
            <a:br>
              <a:rPr lang="ko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 sz="1800">
                <a:solidFill>
                  <a:schemeClr val="dk1"/>
                </a:solidFill>
              </a:rPr>
              <a:t>모델 설계</a:t>
            </a:r>
            <a:br>
              <a:rPr lang="ko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 sz="1800">
                <a:solidFill>
                  <a:schemeClr val="dk1"/>
                </a:solidFill>
              </a:rPr>
              <a:t>연구 가설</a:t>
            </a:r>
            <a:br>
              <a:rPr lang="ko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ko" sz="1800">
                <a:solidFill>
                  <a:schemeClr val="dk1"/>
                </a:solidFill>
              </a:rPr>
              <a:t>연구 일</a:t>
            </a:r>
            <a:r>
              <a:rPr lang="ko" sz="1800">
                <a:solidFill>
                  <a:schemeClr val="dk1"/>
                </a:solidFill>
              </a:rPr>
              <a:t>정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f0c4636bd_2_2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g39f0c4636bd_2_2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5" name="Google Shape;85;g39f0c4636bd_2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9f0c4636bd_2_23"/>
          <p:cNvSpPr txBox="1"/>
          <p:nvPr/>
        </p:nvSpPr>
        <p:spPr>
          <a:xfrm>
            <a:off x="1630775" y="3069775"/>
            <a:ext cx="551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ex)</a:t>
            </a:r>
            <a:r>
              <a:rPr lang="ko" sz="1800">
                <a:solidFill>
                  <a:schemeClr val="dk2"/>
                </a:solidFill>
              </a:rPr>
              <a:t> 흑인 지명수배 시, 어두운 피부톤을 가중향적으로 판단하여 아무 흑인이나 범죄자로 판별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g39f0c4636bd_2_23"/>
          <p:cNvSpPr txBox="1"/>
          <p:nvPr/>
        </p:nvSpPr>
        <p:spPr>
          <a:xfrm>
            <a:off x="1630775" y="1986975"/>
            <a:ext cx="678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모델이 '사람'을 탐지하는 과정에서 '피부색'처럼 쉽고 명확하지만 편향된 특징(shortcut)에 과도하게 의존하도록 학습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g39f0c4636bd_2_23"/>
          <p:cNvSpPr txBox="1"/>
          <p:nvPr/>
        </p:nvSpPr>
        <p:spPr>
          <a:xfrm>
            <a:off x="1630775" y="4156725"/>
            <a:ext cx="727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목표 : </a:t>
            </a:r>
            <a:r>
              <a:rPr lang="ko" sz="1800">
                <a:solidFill>
                  <a:schemeClr val="dk1"/>
                </a:solidFill>
              </a:rPr>
              <a:t>모델이 편향된 판단을 내리는 원</a:t>
            </a:r>
            <a:r>
              <a:rPr lang="ko" sz="1800">
                <a:solidFill>
                  <a:schemeClr val="dk1"/>
                </a:solidFill>
              </a:rPr>
              <a:t>인이 되는 특징을</a:t>
            </a:r>
            <a:r>
              <a:rPr lang="ko" sz="1800">
                <a:solidFill>
                  <a:schemeClr val="dk1"/>
                </a:solidFill>
              </a:rPr>
              <a:t> 능동적으로 제어</a:t>
            </a:r>
            <a:endParaRPr/>
          </a:p>
        </p:txBody>
      </p:sp>
      <p:sp>
        <p:nvSpPr>
          <p:cNvPr id="89" name="Google Shape;89;g39f0c4636bd_2_23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문제 및 연구 목표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90" name="Google Shape;90;g39f0c4636bd_2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9526" y="188500"/>
            <a:ext cx="5268624" cy="15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0c4636bd_0_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g39f0c4636bd_0_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g39f0c4636bd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9f0c4636bd_0_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모델 아이디어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9" name="Google Shape;99;g39f0c4636bd_0_4"/>
          <p:cNvSpPr txBox="1"/>
          <p:nvPr/>
        </p:nvSpPr>
        <p:spPr>
          <a:xfrm>
            <a:off x="2140525" y="1534450"/>
            <a:ext cx="646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A 모델이 인종에 편향되도록 판단하게 하는 오염된 특징을 선별하여 인종과 관련없는 정보로 face recognition을 하도록 함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0" name="Google Shape;100;g39f0c4636bd_0_4"/>
          <p:cNvSpPr txBox="1"/>
          <p:nvPr/>
        </p:nvSpPr>
        <p:spPr>
          <a:xfrm>
            <a:off x="2188225" y="2864275"/>
            <a:ext cx="63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Adversarial learning + XAI(</a:t>
            </a:r>
            <a:r>
              <a:rPr lang="ko" sz="1800">
                <a:solidFill>
                  <a:schemeClr val="dk1"/>
                </a:solidFill>
              </a:rPr>
              <a:t>explainable</a:t>
            </a:r>
            <a:r>
              <a:rPr lang="ko" sz="1800">
                <a:solidFill>
                  <a:schemeClr val="dk1"/>
                </a:solidFill>
              </a:rPr>
              <a:t> AI)의 아이디어를 적용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-&gt; XAI로 선별된 특징에 대해 적대적 학습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f0c4636bd_0_2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g39f0c4636bd_0_2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7" name="Google Shape;107;g39f0c4636bd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9f0c4636bd_0_2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모델 </a:t>
            </a: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설계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9" name="Google Shape;109;g39f0c4636bd_0_26"/>
          <p:cNvSpPr txBox="1"/>
          <p:nvPr/>
        </p:nvSpPr>
        <p:spPr>
          <a:xfrm>
            <a:off x="1722099" y="864900"/>
            <a:ext cx="56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편향된 A 모델 -&gt; B 모델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" name="Google Shape;110;g39f0c4636bd_0_26"/>
          <p:cNvSpPr txBox="1"/>
          <p:nvPr/>
        </p:nvSpPr>
        <p:spPr>
          <a:xfrm>
            <a:off x="1767108" y="2571750"/>
            <a:ext cx="56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새로운 A 모델 &lt;-&gt; C 모델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1" name="Google Shape;111;g39f0c4636bd_0_26"/>
          <p:cNvSpPr txBox="1"/>
          <p:nvPr/>
        </p:nvSpPr>
        <p:spPr>
          <a:xfrm>
            <a:off x="2167630" y="1359875"/>
            <a:ext cx="7087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흑인 data가 sparse한 dataset으로 A 모델을 train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-&gt; B 모델은 A 모델이 출력한 사진의 feature vector를 통해 인종 예측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-&gt; 인종 예측에 사용된 주요 feature들은 인종 편향을 일으키는 특징 n개 추출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-&gt; 이때 n은 hyperparameter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2" name="Google Shape;112;g39f0c4636bd_0_26"/>
          <p:cNvSpPr txBox="1"/>
          <p:nvPr/>
        </p:nvSpPr>
        <p:spPr>
          <a:xfrm>
            <a:off x="2167630" y="3097175"/>
            <a:ext cx="7087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C 모델의 input layer로 n개의 뉴런 생성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-&gt; C 모델은 B 모델이 </a:t>
            </a:r>
            <a:r>
              <a:rPr lang="ko" sz="1500">
                <a:solidFill>
                  <a:schemeClr val="dk2"/>
                </a:solidFill>
              </a:rPr>
              <a:t>식별한</a:t>
            </a:r>
            <a:r>
              <a:rPr lang="ko" sz="1500">
                <a:solidFill>
                  <a:schemeClr val="dk2"/>
                </a:solidFill>
              </a:rPr>
              <a:t> n개의 특징만 보고 A 모델이 인식한 사진의 인종 판단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-&gt; </a:t>
            </a:r>
            <a:r>
              <a:rPr lang="ko" sz="1500">
                <a:solidFill>
                  <a:schemeClr val="dk2"/>
                </a:solidFill>
              </a:rPr>
              <a:t>C 모델은 인종을 정확히 판단(오류율 낮추기)하려 하고,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A 모델은 C의 오류율을 높이도록(C를 속이도록) 경쟁하는 것이 목표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-&gt; A 모델은 n개의 특징에서 인종에 편향된 정보를 줄임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0c4636bd_0_40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g39f0c4636bd_0_40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9" name="Google Shape;119;g39f0c4636bd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9f0c4636bd_0_40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모델 </a:t>
            </a: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가설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21" name="Google Shape;121;g39f0c4636bd_0_40"/>
          <p:cNvSpPr txBox="1"/>
          <p:nvPr/>
        </p:nvSpPr>
        <p:spPr>
          <a:xfrm>
            <a:off x="1699225" y="1504025"/>
            <a:ext cx="700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 sz="1800">
                <a:solidFill>
                  <a:schemeClr val="dk1"/>
                </a:solidFill>
              </a:rPr>
              <a:t>A와 C 모델이 적대적 학습을 하면 A 모델은 n개의 인종 오염 특징에서 인종 특성을 줄이면서 얼굴 인식을 하게 될 것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2" name="Google Shape;122;g39f0c4636bd_0_40"/>
          <p:cNvSpPr txBox="1"/>
          <p:nvPr/>
        </p:nvSpPr>
        <p:spPr>
          <a:xfrm>
            <a:off x="1699225" y="2752100"/>
            <a:ext cx="700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 sz="1800">
                <a:solidFill>
                  <a:schemeClr val="dk1"/>
                </a:solidFill>
              </a:rPr>
              <a:t>선별적으로 오염 특징을 선택하면 얼굴 인식 성능에 영향을 줄 수 있는 feature들은 살려 두어 얼굴 인식 성능 유지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0c4636bd_2_42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g39f0c4636bd_2_42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9" name="Google Shape;129;g39f0c4636bd_2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9f0c4636bd_2_42"/>
          <p:cNvSpPr txBox="1"/>
          <p:nvPr/>
        </p:nvSpPr>
        <p:spPr>
          <a:xfrm>
            <a:off x="2239500" y="1626225"/>
            <a:ext cx="52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strike="sngStrike">
                <a:solidFill>
                  <a:schemeClr val="dk2"/>
                </a:solidFill>
              </a:rPr>
              <a:t>2. 모델 및 방법론 '정의' (Formalization)</a:t>
            </a:r>
            <a:endParaRPr sz="1800" strike="sngStrike">
              <a:solidFill>
                <a:schemeClr val="dk2"/>
              </a:solidFill>
            </a:endParaRPr>
          </a:p>
        </p:txBody>
      </p:sp>
      <p:sp>
        <p:nvSpPr>
          <p:cNvPr id="131" name="Google Shape;131;g39f0c4636bd_2_42"/>
          <p:cNvSpPr txBox="1"/>
          <p:nvPr/>
        </p:nvSpPr>
        <p:spPr>
          <a:xfrm>
            <a:off x="2239500" y="992125"/>
            <a:ext cx="5204400" cy="46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strike="sngStrike">
                <a:solidFill>
                  <a:schemeClr val="dk2"/>
                </a:solidFill>
              </a:rPr>
              <a:t>1.선행 연구 심층 분석 (Literature Review)</a:t>
            </a:r>
            <a:endParaRPr sz="1800" strike="sngStrike">
              <a:solidFill>
                <a:schemeClr val="dk2"/>
              </a:solidFill>
            </a:endParaRPr>
          </a:p>
        </p:txBody>
      </p:sp>
      <p:sp>
        <p:nvSpPr>
          <p:cNvPr id="132" name="Google Shape;132;g39f0c4636bd_2_42"/>
          <p:cNvSpPr txBox="1"/>
          <p:nvPr/>
        </p:nvSpPr>
        <p:spPr>
          <a:xfrm>
            <a:off x="2239500" y="2264488"/>
            <a:ext cx="44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3. 핵심 모델 구현</a:t>
            </a:r>
            <a:endParaRPr/>
          </a:p>
        </p:txBody>
      </p:sp>
      <p:sp>
        <p:nvSpPr>
          <p:cNvPr id="133" name="Google Shape;133;g39f0c4636bd_2_42"/>
          <p:cNvSpPr txBox="1"/>
          <p:nvPr/>
        </p:nvSpPr>
        <p:spPr>
          <a:xfrm>
            <a:off x="2239500" y="2982513"/>
            <a:ext cx="44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4. 성능 및 결과 분석 </a:t>
            </a:r>
            <a:endParaRPr/>
          </a:p>
        </p:txBody>
      </p:sp>
      <p:sp>
        <p:nvSpPr>
          <p:cNvPr id="134" name="Google Shape;134;g39f0c4636bd_2_42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연구 일정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f0c4636bd_0_57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g39f0c4636bd_0_57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1" name="Google Shape;141;g39f0c4636bd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9f0c4636bd_0_57"/>
          <p:cNvSpPr txBox="1"/>
          <p:nvPr/>
        </p:nvSpPr>
        <p:spPr>
          <a:xfrm>
            <a:off x="3810000" y="2217750"/>
            <a:ext cx="2373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400">
                <a:solidFill>
                  <a:schemeClr val="dk1"/>
                </a:solidFill>
              </a:rPr>
              <a:t>감사합니다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