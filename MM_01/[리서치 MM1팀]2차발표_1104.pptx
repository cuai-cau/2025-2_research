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4" r:id="rId7"/>
    <p:sldId id="262" r:id="rId8"/>
    <p:sldId id="266" r:id="rId9"/>
    <p:sldId id="267" r:id="rId10"/>
    <p:sldId id="263" r:id="rId11"/>
    <p:sldId id="261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71"/>
    <p:restoredTop sz="94719"/>
  </p:normalViewPr>
  <p:slideViewPr>
    <p:cSldViewPr snapToGrid="0">
      <p:cViewPr>
        <p:scale>
          <a:sx n="215" d="100"/>
          <a:sy n="215" d="100"/>
        </p:scale>
        <p:origin x="-3520" y="-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105CB41-E188-789F-3EB2-9DAD05FC4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F66DDA96-45C2-32A9-4781-38CF8266C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F08DCC2D-7FA7-8D85-7D47-6D581DABA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227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960F5D5-CA23-AB50-846C-9A1257CC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F71A6CE-A176-67F3-8AC9-212F90606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382FAFE-BE1D-B348-B1F1-979BD517F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0857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8E14B50-01BF-3442-02D4-E6A212C6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2DC056B3-1ED5-D90C-4C64-FC39616AA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A4F9529-ED13-09E3-F7D7-2E986BD6E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1997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27AD8A3-EFA3-8ED1-DECC-8A4AE6FF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AA9D6BD1-640F-04EF-24A1-8D7445430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DC2F258E-FD5F-CB3C-5EF4-8797FF873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728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59AC2DF-72B9-9E61-5C9A-5D740A25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E876A3A4-BEB0-29F8-A3AF-E94710E3E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6E8F109B-34E8-5987-C963-35B391A0F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384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796FA56-DF99-21B7-A381-4DA7CDDA7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1DD361DC-58B6-E424-0307-45A8B8908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37CAD56-06C1-1032-9092-05D643DCE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7124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E41B85E-F34E-3CDC-65AA-55D0FFC6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6F605F44-A604-5657-52AB-2B9B9181A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4AC8307-795D-C9A4-EFD6-FA2314ED4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4608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4A342E1-786B-B7AB-503B-6FBE2926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7CE24EC1-777F-734B-402F-5DCDC84B8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896FB6B-6E78-AD1D-9E55-C7FECE67D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74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Research</a:t>
            </a:r>
            <a:r>
              <a:rPr lang="ko" altLang="en-US" sz="2500" b="1" dirty="0">
                <a:solidFill>
                  <a:srgbClr val="19264B"/>
                </a:solidFill>
              </a:rPr>
              <a:t> </a:t>
            </a:r>
            <a:r>
              <a:rPr lang="en-US" altLang="ko" sz="2500" b="1" dirty="0">
                <a:solidFill>
                  <a:srgbClr val="19264B"/>
                </a:solidFill>
              </a:rPr>
              <a:t>MM 1</a:t>
            </a:r>
            <a:r>
              <a:rPr lang="ko" altLang="en-US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11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4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" altLang="en-US" sz="1100" dirty="0">
                <a:solidFill>
                  <a:srgbClr val="19264B"/>
                </a:solidFill>
              </a:rPr>
              <a:t>신승현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팀</a:t>
            </a:r>
            <a:r>
              <a:rPr 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원 소개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898675" y="1680478"/>
            <a:ext cx="22821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스터디원 1 : </a:t>
            </a:r>
            <a:r>
              <a:rPr lang="ko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김현수</a:t>
            </a:r>
            <a:endParaRPr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스터디원 2 : </a:t>
            </a:r>
            <a:r>
              <a:rPr lang="ko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나상현</a:t>
            </a:r>
            <a:endParaRPr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스터디원 3 : </a:t>
            </a:r>
            <a:r>
              <a:rPr lang="ko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신승현</a:t>
            </a:r>
            <a:endParaRPr lang="en-US" altLang="ko"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스터디원</a:t>
            </a:r>
            <a:r>
              <a:rPr lang="ko-KR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 </a:t>
            </a:r>
            <a:r>
              <a:rPr lang="en-US" altLang="ko-KR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4:</a:t>
            </a:r>
            <a:r>
              <a:rPr lang="ko-KR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  </a:t>
            </a:r>
            <a:r>
              <a:rPr lang="ko-KR" altLang="en-US" sz="1600" dirty="0" err="1">
                <a:latin typeface="Gmarket Sans Light" panose="02000000000000000000" pitchFamily="2" charset="-128"/>
                <a:ea typeface="Gmarket Sans Light" panose="02000000000000000000" pitchFamily="2" charset="-128"/>
              </a:rPr>
              <a:t>오규안</a:t>
            </a:r>
            <a:endParaRPr lang="en-US" altLang="ko-KR"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A3D1699A-93F9-7950-898B-B892B3D7DE54}"/>
              </a:ext>
            </a:extLst>
          </p:cNvPr>
          <p:cNvSpPr txBox="1"/>
          <p:nvPr/>
        </p:nvSpPr>
        <p:spPr>
          <a:xfrm>
            <a:off x="1474288" y="1050389"/>
            <a:ext cx="6430207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일시</a:t>
            </a:r>
            <a:r>
              <a:rPr lang="en-US" altLang="ko-KR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,</a:t>
            </a: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 방식</a:t>
            </a:r>
            <a:r>
              <a:rPr lang="en-US" altLang="ko-KR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)</a:t>
            </a: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매주 월요일 </a:t>
            </a:r>
            <a:r>
              <a:rPr lang="en-US" altLang="ko-KR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15-17</a:t>
            </a:r>
            <a:r>
              <a:rPr lang="ko-KR" altLang="en-US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시 대면 미팅</a:t>
            </a:r>
            <a:endParaRPr lang="en-US" altLang="ko-KR" dirty="0">
              <a:solidFill>
                <a:schemeClr val="tx1"/>
              </a:solidFill>
              <a:latin typeface="Gmarket Sans Light" panose="02000000000000000000" pitchFamily="2" charset="-128"/>
              <a:ea typeface="Gmarket Sans Light" panose="02000000000000000000" pitchFamily="2" charset="-128"/>
              <a:cs typeface="Pretendard" panose="02000503000000020004" pitchFamily="2" charset="-127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	</a:t>
            </a:r>
            <a:endParaRPr lang="en-US" altLang="ko-KR" b="1" dirty="0">
              <a:solidFill>
                <a:schemeClr val="tx1"/>
              </a:solidFill>
              <a:latin typeface="Gmarket Sans Light" panose="02000000000000000000" pitchFamily="2" charset="-128"/>
              <a:ea typeface="Gmarket Sans Light" panose="02000000000000000000" pitchFamily="2" charset="-128"/>
              <a:cs typeface="Pretendard" panose="02000503000000020004" pitchFamily="2" charset="-127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목표</a:t>
            </a:r>
            <a:r>
              <a:rPr lang="en-US" altLang="ko-KR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) </a:t>
            </a:r>
            <a:r>
              <a:rPr lang="en-US" altLang="ko-KR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JMLR submission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solidFill>
                <a:schemeClr val="tx1"/>
              </a:solidFill>
              <a:latin typeface="Gmarket Sans Light" panose="02000000000000000000" pitchFamily="2" charset="-128"/>
              <a:ea typeface="Gmarket Sans Light" panose="02000000000000000000" pitchFamily="2" charset="-128"/>
              <a:cs typeface="Pretendard" panose="02000503000000020004" pitchFamily="2" charset="-127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연구 주제</a:t>
            </a:r>
            <a:r>
              <a:rPr lang="en-US" altLang="ko-KR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3D Visual Grounding with LVLM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7D080EC-3850-33FC-7941-39A13100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8C07E8CB-E4D5-FDB1-5375-AD687F31C9D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A63432B1-EB29-02AB-0A93-8DB83269A51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48F0E62-52BF-90D0-10EC-860A03FCACE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9E0CDD0-6FAD-78D0-4045-02DF24B0569E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3D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Visual Grounding Survey </a:t>
            </a:r>
            <a:r>
              <a:rPr kumimoji="1" lang="ko-KR" altLang="en-US" dirty="0"/>
              <a:t>읽고 연구 주제 논의</a:t>
            </a:r>
            <a:endParaRPr kumimoji="1" lang="ko-KR" altLang="en-US" sz="2000" dirty="0"/>
          </a:p>
        </p:txBody>
      </p:sp>
      <p:pic>
        <p:nvPicPr>
          <p:cNvPr id="4" name="그림 3" descr="텍스트, 스크린샷, 문서, 폰트이(가) 표시된 사진&#10;&#10;자동 생성된 설명">
            <a:extLst>
              <a:ext uri="{FF2B5EF4-FFF2-40B4-BE49-F238E27FC236}">
                <a16:creationId xmlns:a16="http://schemas.microsoft.com/office/drawing/2014/main" id="{E325FF38-8E15-2747-460A-7F252D032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675" y="1112700"/>
            <a:ext cx="2557573" cy="33560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 descr="텍스트, 신문, 출판, 신문활자이(가) 표시된 사진&#10;&#10;자동 생성된 설명">
            <a:extLst>
              <a:ext uri="{FF2B5EF4-FFF2-40B4-BE49-F238E27FC236}">
                <a16:creationId xmlns:a16="http://schemas.microsoft.com/office/drawing/2014/main" id="{684D47CB-9A36-2BB3-7F62-C9631BDEE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123" y="1112699"/>
            <a:ext cx="2454869" cy="33560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3572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B137FEB-E581-221C-BD4D-DE4028DF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1DFBFC34-255C-4950-5279-8828E7CB560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247E91A-D101-D9BF-CE60-4847B308C2B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7EC4E1F-1F39-9A0F-6916-D5D9E91895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880B22-D320-2486-2AC0-79CF140F5FC3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Key</a:t>
            </a:r>
            <a:r>
              <a:rPr kumimoji="1" lang="ko-KR" altLang="en-US" dirty="0"/>
              <a:t> </a:t>
            </a:r>
            <a:r>
              <a:rPr kumimoji="1" lang="en-US" altLang="ko-KR" dirty="0"/>
              <a:t>Limitation of 3D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Visual Grounding</a:t>
            </a:r>
            <a:endParaRPr kumimoji="1"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F6F6D-CC26-52D6-3A7D-F6432CCF7911}"/>
              </a:ext>
            </a:extLst>
          </p:cNvPr>
          <p:cNvSpPr txBox="1"/>
          <p:nvPr/>
        </p:nvSpPr>
        <p:spPr>
          <a:xfrm>
            <a:off x="1621036" y="1216094"/>
            <a:ext cx="735008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- </a:t>
            </a:r>
            <a:r>
              <a:rPr lang="en" altLang="ko-KR" sz="1200" b="1" dirty="0"/>
              <a:t>Strong reliance on full supervision</a:t>
            </a:r>
            <a:br>
              <a:rPr lang="en" altLang="ko-KR" sz="1200" dirty="0"/>
            </a:br>
            <a:r>
              <a:rPr lang="en" altLang="ko-KR" sz="1200" dirty="0"/>
              <a:t>	Heavy dependence on large-scale, manually annotated datasets.</a:t>
            </a:r>
            <a:br>
              <a:rPr lang="en" altLang="ko-KR" sz="1200" dirty="0"/>
            </a:br>
            <a:endParaRPr lang="en" altLang="ko-KR" sz="1200" dirty="0"/>
          </a:p>
          <a:p>
            <a:r>
              <a:rPr lang="en-US" altLang="ko-KR" sz="1200" b="1" dirty="0"/>
              <a:t>- </a:t>
            </a:r>
            <a:r>
              <a:rPr lang="en" altLang="ko-KR" sz="1200" b="1" dirty="0"/>
              <a:t>Foreground–background ambiguity &amp; spatial reasoning</a:t>
            </a:r>
            <a:br>
              <a:rPr lang="en" altLang="ko-KR" sz="1200" dirty="0"/>
            </a:br>
            <a:r>
              <a:rPr lang="en" altLang="ko-KR" sz="1200" dirty="0"/>
              <a:t>	Difficulty in distinguishing targets from clutter and reasoning about complex spatial relations.</a:t>
            </a:r>
            <a:br>
              <a:rPr lang="en" altLang="ko-KR" sz="1200" dirty="0"/>
            </a:br>
            <a:endParaRPr lang="en" altLang="ko-KR" sz="1200" dirty="0"/>
          </a:p>
          <a:p>
            <a:r>
              <a:rPr lang="en-US" altLang="ko-KR" sz="1200" b="1" dirty="0"/>
              <a:t>- </a:t>
            </a:r>
            <a:r>
              <a:rPr lang="en" altLang="ko-KR" sz="1200" b="1" dirty="0"/>
              <a:t>Lack of robustness in real-world settings</a:t>
            </a:r>
            <a:br>
              <a:rPr lang="en" altLang="ko-KR" sz="1200" dirty="0"/>
            </a:br>
            <a:r>
              <a:rPr lang="en" altLang="ko-KR" sz="1200" dirty="0"/>
              <a:t>	Struggles with uncertain </a:t>
            </a:r>
            <a:r>
              <a:rPr lang="en-US" altLang="ko-KR" sz="1200" dirty="0"/>
              <a:t>situation(</a:t>
            </a:r>
            <a:r>
              <a:rPr lang="en" altLang="ko-KR" sz="1200" dirty="0"/>
              <a:t>multi-object, no-object, …)</a:t>
            </a:r>
          </a:p>
          <a:p>
            <a:br>
              <a:rPr lang="en-US" altLang="ko-KR" sz="1200" b="1" dirty="0"/>
            </a:br>
            <a:r>
              <a:rPr lang="en-US" altLang="ko-KR" sz="1200" b="1" dirty="0"/>
              <a:t>- </a:t>
            </a:r>
            <a:r>
              <a:rPr lang="en" altLang="ko-KR" sz="1200" b="1" dirty="0"/>
              <a:t>Feature space discrepancy</a:t>
            </a:r>
            <a:br>
              <a:rPr lang="en" altLang="ko-KR" sz="1200" dirty="0"/>
            </a:br>
            <a:r>
              <a:rPr lang="en" altLang="ko-KR" sz="1200" dirty="0"/>
              <a:t>	Misalignment between visual and linguistic feature representations.</a:t>
            </a:r>
          </a:p>
          <a:p>
            <a:br>
              <a:rPr lang="en-US" altLang="ko-KR" sz="1200" b="1" dirty="0"/>
            </a:br>
            <a:r>
              <a:rPr lang="en-US" altLang="ko-KR" sz="1200" b="1" dirty="0"/>
              <a:t>- </a:t>
            </a:r>
            <a:r>
              <a:rPr lang="en" altLang="ko-KR" sz="1200" b="1" dirty="0"/>
              <a:t>Insufficient local reasoning</a:t>
            </a:r>
            <a:br>
              <a:rPr lang="en" altLang="ko-KR" sz="1200" dirty="0"/>
            </a:br>
            <a:r>
              <a:rPr lang="en" altLang="ko-KR" sz="1200" dirty="0"/>
              <a:t>	Limited ability to capture fine-grained details and object-level semantics.</a:t>
            </a:r>
          </a:p>
          <a:p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0672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C7037E2-7430-CB3D-DE64-FE7F5E58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BAEC621-0250-FF04-0817-3D9C1E25D0D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39B50F5-8C0D-4FD3-D53D-5EC50C791D2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182D33E-4492-4672-62DD-3F2020F985E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2428D02-2E8F-2097-2768-D8281CE06C15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Key</a:t>
            </a:r>
            <a:r>
              <a:rPr kumimoji="1" lang="ko-KR" altLang="en-US" dirty="0"/>
              <a:t> </a:t>
            </a:r>
            <a:r>
              <a:rPr kumimoji="1" lang="en-US" altLang="ko-KR" dirty="0"/>
              <a:t>Limitation of 3D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Visual Grounding</a:t>
            </a:r>
            <a:endParaRPr kumimoji="1"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76765-5A00-1A7A-FAB8-C61B98DDD473}"/>
              </a:ext>
            </a:extLst>
          </p:cNvPr>
          <p:cNvSpPr txBox="1"/>
          <p:nvPr/>
        </p:nvSpPr>
        <p:spPr>
          <a:xfrm>
            <a:off x="1621036" y="1216094"/>
            <a:ext cx="735008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" altLang="ko-KR" sz="1200" b="1" dirty="0">
                <a:solidFill>
                  <a:schemeClr val="bg1">
                    <a:lumMod val="75000"/>
                  </a:schemeClr>
                </a:solidFill>
              </a:rPr>
              <a:t>Strong reliance on full supervision</a:t>
            </a:r>
            <a:b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	Heavy dependence on large-scale, manually annotated datasets.</a:t>
            </a:r>
            <a:br>
              <a:rPr lang="en" altLang="ko-KR" sz="1200" dirty="0"/>
            </a:br>
            <a:endParaRPr lang="en" altLang="ko-KR" sz="1200" dirty="0"/>
          </a:p>
          <a:p>
            <a:r>
              <a:rPr lang="en-US" altLang="ko-KR" sz="1200" b="1" dirty="0"/>
              <a:t>- </a:t>
            </a:r>
            <a:r>
              <a:rPr lang="en" altLang="ko-KR" sz="1200" b="1" dirty="0"/>
              <a:t>Foreground–background ambiguity &amp; spatial reasoning</a:t>
            </a:r>
            <a:br>
              <a:rPr lang="en" altLang="ko-KR" sz="1200" dirty="0"/>
            </a:br>
            <a:r>
              <a:rPr lang="en" altLang="ko-KR" sz="1200" dirty="0"/>
              <a:t>	Difficulty in distinguishing targets from clutter and reasoning about complex spatial relations.</a:t>
            </a:r>
            <a:br>
              <a:rPr lang="en" altLang="ko-KR" sz="1200" dirty="0"/>
            </a:br>
            <a:endParaRPr lang="en" altLang="ko-KR" sz="1200" dirty="0"/>
          </a:p>
          <a:p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" altLang="ko-KR" sz="1200" b="1" dirty="0">
                <a:solidFill>
                  <a:schemeClr val="bg1">
                    <a:lumMod val="75000"/>
                  </a:schemeClr>
                </a:solidFill>
              </a:rPr>
              <a:t>Lack of robustness in real-world settings</a:t>
            </a:r>
            <a:b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	Struggles with uncertain 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</a:rPr>
              <a:t>situation(</a:t>
            </a: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multi-object, no-object, …)</a:t>
            </a:r>
          </a:p>
          <a:p>
            <a:b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" altLang="ko-KR" sz="1200" b="1" dirty="0">
                <a:solidFill>
                  <a:schemeClr val="bg1">
                    <a:lumMod val="75000"/>
                  </a:schemeClr>
                </a:solidFill>
              </a:rPr>
              <a:t>Feature space discrepancy</a:t>
            </a:r>
            <a:b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	Misalignment between visual and linguistic feature representations.</a:t>
            </a:r>
          </a:p>
          <a:p>
            <a:b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" altLang="ko-KR" sz="1200" b="1" dirty="0">
                <a:solidFill>
                  <a:schemeClr val="bg1">
                    <a:lumMod val="75000"/>
                  </a:schemeClr>
                </a:solidFill>
              </a:rPr>
              <a:t>Insufficient local reasoning</a:t>
            </a:r>
            <a:b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	Limited ability to capture fine-grained details and object-level semantics.</a:t>
            </a:r>
          </a:p>
          <a:p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5187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6701622-4C58-45E5-0967-93CCD72B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75BF61F-7C31-0F88-3E94-46FD16683B6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982E9BE3-64A8-A1B5-0CB7-A441FA4C481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AA08BB9-B430-01F6-B550-0CD5C2E5CF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D066267-8C65-6C4D-2F3B-D615FC60CA6D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SceneFun3d</a:t>
            </a:r>
            <a:endParaRPr kumimoji="1" lang="ko-KR" altLang="en-US" sz="2000" dirty="0"/>
          </a:p>
        </p:txBody>
      </p:sp>
      <p:pic>
        <p:nvPicPr>
          <p:cNvPr id="3" name="그림 2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5700DBED-D3CC-FB30-EDF3-257022767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604" y="1311859"/>
            <a:ext cx="3323831" cy="26020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 descr="스크린샷, 노랑, 디자인이(가) 표시된 사진&#10;&#10;자동 생성된 설명">
            <a:extLst>
              <a:ext uri="{FF2B5EF4-FFF2-40B4-BE49-F238E27FC236}">
                <a16:creationId xmlns:a16="http://schemas.microsoft.com/office/drawing/2014/main" id="{35DD2BC9-5743-0360-D1F4-5FD958031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963" y="1681420"/>
            <a:ext cx="4022604" cy="18629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4AF37D0-5F0F-8DF9-A238-169A11B54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977" y="4037361"/>
            <a:ext cx="5950426" cy="303273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563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3F3ECBF-6466-B5C8-C883-ABEC28815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829AC9B-51ED-9CD4-D1D7-A104212C398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E32A43B-080C-27B7-D00E-0B5920FBE65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99F8A1E-E769-883E-3D7E-D5C163305F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D0468BE-5536-0CC2-2148-9B217DCD6A3E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SceneFun3d</a:t>
            </a:r>
            <a:endParaRPr kumimoji="1" lang="ko-KR" altLang="en-US" sz="2000" dirty="0"/>
          </a:p>
        </p:txBody>
      </p:sp>
      <p:pic>
        <p:nvPicPr>
          <p:cNvPr id="15" name="그림 14" descr="텍스트, 스크린샷, 폰트, 플래시 메모리이(가) 표시된 사진&#10;&#10;자동 생성된 설명">
            <a:extLst>
              <a:ext uri="{FF2B5EF4-FFF2-40B4-BE49-F238E27FC236}">
                <a16:creationId xmlns:a16="http://schemas.microsoft.com/office/drawing/2014/main" id="{F4F776F2-F59E-9508-E0ED-5E09A8D4C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650" y="1821666"/>
            <a:ext cx="5851528" cy="2187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AAE1D89-706A-7F46-DC06-580BEB9DA875}"/>
              </a:ext>
            </a:extLst>
          </p:cNvPr>
          <p:cNvSpPr txBox="1"/>
          <p:nvPr/>
        </p:nvSpPr>
        <p:spPr>
          <a:xfrm>
            <a:off x="1500388" y="116482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The way to interact with an element: Affordance</a:t>
            </a:r>
            <a:endParaRPr lang="ko-KR" altLang="en-US" sz="14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82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B8791AC-EF35-9A89-4E78-6560E4F3F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36271A2-9EAD-FD8A-4D9A-071420BCB58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8A01958-2D51-A3A0-091A-1D99659FF53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F793FA9-1D36-A208-DBBB-B589728E6F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744EDEA-BFE2-43F5-BD30-7F20D2B1B371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SceneFun3d</a:t>
            </a:r>
            <a:endParaRPr kumimoji="1" lang="ko-KR" alt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2A3B3A-1C3D-D199-EE18-6062BB989BEF}"/>
              </a:ext>
            </a:extLst>
          </p:cNvPr>
          <p:cNvSpPr txBox="1"/>
          <p:nvPr/>
        </p:nvSpPr>
        <p:spPr>
          <a:xfrm>
            <a:off x="1500388" y="116482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The way to interact with an element: Affordance</a:t>
            </a:r>
            <a:endParaRPr lang="ko-KR" altLang="en-US" sz="14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" name="그림 2" descr="텍스트, 직사각형, 라인, 스크린샷이(가) 표시된 사진&#10;&#10;자동 생성된 설명">
            <a:extLst>
              <a:ext uri="{FF2B5EF4-FFF2-40B4-BE49-F238E27FC236}">
                <a16:creationId xmlns:a16="http://schemas.microsoft.com/office/drawing/2014/main" id="{1A5AE7CA-FE69-0851-732D-DD00C22B0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388" y="2349024"/>
            <a:ext cx="1928110" cy="1527936"/>
          </a:xfrm>
          <a:prstGeom prst="rect">
            <a:avLst/>
          </a:prstGeom>
        </p:spPr>
      </p:pic>
      <p:pic>
        <p:nvPicPr>
          <p:cNvPr id="5" name="그림 4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8A5D4BC2-7C22-B1E7-ED07-F696B9511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172" y="2188376"/>
            <a:ext cx="1867587" cy="1849232"/>
          </a:xfrm>
          <a:prstGeom prst="rect">
            <a:avLst/>
          </a:prstGeom>
        </p:spPr>
      </p:pic>
      <p:pic>
        <p:nvPicPr>
          <p:cNvPr id="7" name="그림 6" descr="텍스트, 폰트, 직사각형, 그래픽이(가) 표시된 사진&#10;&#10;자동 생성된 설명">
            <a:extLst>
              <a:ext uri="{FF2B5EF4-FFF2-40B4-BE49-F238E27FC236}">
                <a16:creationId xmlns:a16="http://schemas.microsoft.com/office/drawing/2014/main" id="{CBA06659-D120-2BF9-110D-32169A841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33" y="2513758"/>
            <a:ext cx="1718703" cy="119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1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736FFD4-9B3F-C08B-D5D7-481785A5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B400F33-D277-DA32-C2FC-24B28E7DCD8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7ED00E5-0B01-F7E7-EF0A-4D7753A72BA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DAB2A50A-0279-3415-7090-7D95489320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94F40F69-7D16-78A7-A0C1-5B3B5249C420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SceneFun3d baseline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</a:t>
            </a:r>
            <a:r>
              <a:rPr kumimoji="1" lang="en-US" altLang="ko-KR" dirty="0"/>
              <a:t>score</a:t>
            </a:r>
            <a:r>
              <a:rPr kumimoji="1" lang="ko-KR" altLang="en-US" dirty="0"/>
              <a:t> 향상</a:t>
            </a:r>
            <a:endParaRPr kumimoji="1" lang="ko-KR" altLang="en-US" sz="2000" dirty="0"/>
          </a:p>
        </p:txBody>
      </p:sp>
      <p:pic>
        <p:nvPicPr>
          <p:cNvPr id="4" name="그림 3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B6F481C1-3E47-D026-840A-6922856A8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904" y="1319238"/>
            <a:ext cx="3468932" cy="30005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5396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0F54809-D650-C4DF-7EE4-F44E0B48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B775852-1155-B97D-EF57-DFE65159CA2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52188EA-7BD3-DCFA-B87B-7B4B0226AFC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0522869-B24F-128B-864B-4D9C926DB2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ABA7F94-F950-BFBF-393C-32373EB2CCEC}"/>
              </a:ext>
            </a:extLst>
          </p:cNvPr>
          <p:cNvSpPr txBox="1"/>
          <p:nvPr/>
        </p:nvSpPr>
        <p:spPr>
          <a:xfrm>
            <a:off x="2044168" y="2325544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72012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312</Words>
  <Application>Microsoft Macintosh PowerPoint</Application>
  <PresentationFormat>화면 슬라이드 쇼(16:9)</PresentationFormat>
  <Paragraphs>41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NanumGothic</vt:lpstr>
      <vt:lpstr>Gmarket Sans Light</vt:lpstr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신승현</cp:lastModifiedBy>
  <cp:revision>3</cp:revision>
  <dcterms:modified xsi:type="dcterms:W3CDTF">2025-11-03T15:58:00Z</dcterms:modified>
</cp:coreProperties>
</file>