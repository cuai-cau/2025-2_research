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5" r:id="rId6"/>
    <p:sldId id="264" r:id="rId7"/>
    <p:sldId id="262" r:id="rId8"/>
    <p:sldId id="266" r:id="rId9"/>
    <p:sldId id="267" r:id="rId10"/>
    <p:sldId id="268" r:id="rId11"/>
    <p:sldId id="270" r:id="rId12"/>
    <p:sldId id="271" r:id="rId13"/>
    <p:sldId id="263" r:id="rId14"/>
    <p:sldId id="272" r:id="rId15"/>
    <p:sldId id="273" r:id="rId16"/>
    <p:sldId id="274" r:id="rId17"/>
    <p:sldId id="26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84"/>
    <p:restoredTop sz="94719"/>
  </p:normalViewPr>
  <p:slideViewPr>
    <p:cSldViewPr snapToGrid="0">
      <p:cViewPr>
        <p:scale>
          <a:sx n="146" d="100"/>
          <a:sy n="146" d="100"/>
        </p:scale>
        <p:origin x="1704" y="10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105CB41-E188-789F-3EB2-9DAD05FC4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F66DDA96-45C2-32A9-4781-38CF8266CA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F08DCC2D-7FA7-8D85-7D47-6D581DABA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227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960F5D5-CA23-AB50-846C-9A1257CC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F71A6CE-A176-67F3-8AC9-212F90606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382FAFE-BE1D-B348-B1F1-979BD517F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0857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8E14B50-01BF-3442-02D4-E6A212C6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DC056B3-1ED5-D90C-4C64-FC39616AA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A4F9529-ED13-09E3-F7D7-2E986BD6E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1997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27AD8A3-EFA3-8ED1-DECC-8A4AE6FF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AA9D6BD1-640F-04EF-24A1-8D74454308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DC2F258E-FD5F-CB3C-5EF4-8797FF873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7283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59AC2DF-72B9-9E61-5C9A-5D740A25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E876A3A4-BEB0-29F8-A3AF-E94710E3E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6E8F109B-34E8-5987-C963-35B391A0F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384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796FA56-DF99-21B7-A381-4DA7CDDA7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1DD361DC-58B6-E424-0307-45A8B8908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37CAD56-06C1-1032-9092-05D643DCE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7124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CA1BB39E-9401-5BD0-1570-565008CA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D795040D-1EB2-64DA-7DBE-CC89F1079A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0010207-E10B-3A7E-6B05-7AF60550D4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0664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367B460-3D7D-4501-F39D-5741BF21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1022A5ED-A2DA-139C-3CFE-5B712F423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8E5CCE8-B64A-E154-6F76-73031CD46A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5817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DD850E4-6609-FEA2-31CF-10575E033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32129C8F-8283-1EF7-EEDB-15C25CCA2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5CB5E55C-12B6-08C5-19E5-1C51F5232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72071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E41B85E-F34E-3CDC-65AA-55D0FFC6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6F605F44-A604-5657-52AB-2B9B9181A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4AC8307-795D-C9A4-EFD6-FA2314ED4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4608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F43F1033-E52B-2707-4CAE-8C40CBAB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742199A-9B7B-8E36-F133-F3C902339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64012DA-1AE0-D9E0-FC51-DA0978B08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80975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84B32D4-7462-889A-CC72-6AC687691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7EDD583-C69E-3A05-06D3-FA68F54E09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25F2536-0BDF-DA45-D729-16E02D821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17984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57A938A3-56AF-B86B-0CDD-B615A011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21F05399-4368-FB05-3C5E-DF606A2A2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F5DD4B1F-F60C-D9B5-6BD8-DAD5712ED5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4149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4A342E1-786B-B7AB-503B-6FBE2926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CE24EC1-777F-734B-402F-5DCDC84B8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896FB6B-6E78-AD1D-9E55-C7FECE67D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74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Research</a:t>
            </a:r>
            <a:r>
              <a:rPr lang="ko" altLang="en-US" sz="2500" b="1" dirty="0">
                <a:solidFill>
                  <a:srgbClr val="19264B"/>
                </a:solidFill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</a:rPr>
              <a:t>MM 1</a:t>
            </a:r>
            <a:r>
              <a:rPr lang="ko" altLang="en-US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11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25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" altLang="en-US" sz="1100" dirty="0">
                <a:solidFill>
                  <a:srgbClr val="19264B"/>
                </a:solidFill>
              </a:rPr>
              <a:t>신승현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팀</a:t>
            </a:r>
            <a:r>
              <a:rPr lang="ko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원 소개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898675" y="1680478"/>
            <a:ext cx="2282100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스터디원 1 : </a:t>
            </a:r>
            <a:r>
              <a:rPr lang="ko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김현수</a:t>
            </a:r>
            <a:endParaRPr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스터디원 2 : </a:t>
            </a:r>
            <a:r>
              <a:rPr lang="ko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나상현</a:t>
            </a:r>
            <a:endParaRPr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스터디원 3 : </a:t>
            </a:r>
            <a:r>
              <a:rPr lang="ko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신승현</a:t>
            </a:r>
            <a:endParaRPr lang="en-US" altLang="ko"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스터디원</a:t>
            </a:r>
            <a:r>
              <a:rPr lang="ko-KR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 </a:t>
            </a:r>
            <a:r>
              <a:rPr lang="en-US" altLang="ko-KR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4:</a:t>
            </a:r>
            <a:r>
              <a:rPr lang="ko-KR" altLang="en-US" sz="1600" dirty="0">
                <a:latin typeface="Gmarket Sans Light" panose="02000000000000000000" pitchFamily="2" charset="-128"/>
                <a:ea typeface="Gmarket Sans Light" panose="02000000000000000000" pitchFamily="2" charset="-128"/>
              </a:rPr>
              <a:t>  </a:t>
            </a:r>
            <a:r>
              <a:rPr lang="ko-KR" altLang="en-US" sz="1600" dirty="0" err="1">
                <a:latin typeface="Gmarket Sans Light" panose="02000000000000000000" pitchFamily="2" charset="-128"/>
                <a:ea typeface="Gmarket Sans Light" panose="02000000000000000000" pitchFamily="2" charset="-128"/>
              </a:rPr>
              <a:t>오규안</a:t>
            </a:r>
            <a:endParaRPr lang="en-US" altLang="ko-KR" sz="1600" dirty="0">
              <a:latin typeface="Gmarket Sans Light" panose="02000000000000000000" pitchFamily="2" charset="-128"/>
              <a:ea typeface="Gmarket Sans Light" panose="02000000000000000000" pitchFamily="2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</a:t>
            </a:r>
            <a:endParaRPr sz="2000" dirty="0">
              <a:solidFill>
                <a:srgbClr val="19264B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3" name="Google Shape;75;p15">
            <a:extLst>
              <a:ext uri="{FF2B5EF4-FFF2-40B4-BE49-F238E27FC236}">
                <a16:creationId xmlns:a16="http://schemas.microsoft.com/office/drawing/2014/main" id="{A3D1699A-93F9-7950-898B-B892B3D7DE54}"/>
              </a:ext>
            </a:extLst>
          </p:cNvPr>
          <p:cNvSpPr txBox="1"/>
          <p:nvPr/>
        </p:nvSpPr>
        <p:spPr>
          <a:xfrm>
            <a:off x="1474288" y="1050389"/>
            <a:ext cx="6430207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일시</a:t>
            </a:r>
            <a:r>
              <a:rPr lang="en-US" altLang="ko-KR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,</a:t>
            </a: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 방식</a:t>
            </a:r>
            <a:r>
              <a:rPr lang="en-US" altLang="ko-KR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)</a:t>
            </a: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매주 월요일 </a:t>
            </a:r>
            <a:r>
              <a:rPr lang="en-US" altLang="ko-KR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15-17</a:t>
            </a:r>
            <a:r>
              <a:rPr lang="ko-KR" altLang="en-US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시 대면 미팅</a:t>
            </a:r>
            <a:endParaRPr lang="en-US" altLang="ko-KR" dirty="0">
              <a:solidFill>
                <a:schemeClr val="tx1"/>
              </a:solidFill>
              <a:latin typeface="Gmarket Sans Light" panose="02000000000000000000" pitchFamily="2" charset="-128"/>
              <a:ea typeface="Gmarket Sans Light" panose="02000000000000000000" pitchFamily="2" charset="-128"/>
              <a:cs typeface="Pretendard" panose="02000503000000020004" pitchFamily="2" charset="-127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	</a:t>
            </a:r>
            <a:endParaRPr lang="en-US" altLang="ko-KR" b="1" dirty="0">
              <a:solidFill>
                <a:schemeClr val="tx1"/>
              </a:solidFill>
              <a:latin typeface="Gmarket Sans Light" panose="02000000000000000000" pitchFamily="2" charset="-128"/>
              <a:ea typeface="Gmarket Sans Light" panose="02000000000000000000" pitchFamily="2" charset="-128"/>
              <a:cs typeface="Pretendard" panose="02000503000000020004" pitchFamily="2" charset="-127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목표</a:t>
            </a:r>
            <a:r>
              <a:rPr lang="en-US" altLang="ko-KR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) </a:t>
            </a:r>
            <a:r>
              <a:rPr lang="en-US" altLang="ko-KR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JMLR submission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>
              <a:solidFill>
                <a:schemeClr val="tx1"/>
              </a:solidFill>
              <a:latin typeface="Gmarket Sans Light" panose="02000000000000000000" pitchFamily="2" charset="-128"/>
              <a:ea typeface="Gmarket Sans Light" panose="02000000000000000000" pitchFamily="2" charset="-128"/>
              <a:cs typeface="Pretendard" panose="02000503000000020004" pitchFamily="2" charset="-127"/>
              <a:sym typeface="NanumGothic ExtraBold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연구 주제</a:t>
            </a:r>
            <a:r>
              <a:rPr lang="en-US" altLang="ko-KR" b="1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tx1"/>
                </a:solidFill>
                <a:latin typeface="Gmarket Sans Light" panose="02000000000000000000" pitchFamily="2" charset="-128"/>
                <a:ea typeface="Gmarket Sans Light" panose="02000000000000000000" pitchFamily="2" charset="-128"/>
                <a:cs typeface="Pretendard" panose="02000503000000020004" pitchFamily="2" charset="-127"/>
                <a:sym typeface="NanumGothic ExtraBold"/>
              </a:rPr>
              <a:t>3D Visual Grounding with LVLM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7D080EC-3850-33FC-7941-39A13100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8C07E8CB-E4D5-FDB1-5375-AD687F31C9D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A63432B1-EB29-02AB-0A93-8DB83269A51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48F0E62-52BF-90D0-10EC-860A03FCAC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9E0CDD0-6FAD-78D0-4045-02DF24B0569E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3D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Visual Grounding Survey </a:t>
            </a:r>
            <a:r>
              <a:rPr kumimoji="1" lang="ko-KR" altLang="en-US" dirty="0"/>
              <a:t>읽고 연구 주제 논의</a:t>
            </a:r>
            <a:endParaRPr kumimoji="1" lang="ko-KR" altLang="en-US" sz="2000" dirty="0"/>
          </a:p>
        </p:txBody>
      </p:sp>
      <p:pic>
        <p:nvPicPr>
          <p:cNvPr id="4" name="그림 3" descr="텍스트, 스크린샷, 문서, 폰트이(가) 표시된 사진&#10;&#10;자동 생성된 설명">
            <a:extLst>
              <a:ext uri="{FF2B5EF4-FFF2-40B4-BE49-F238E27FC236}">
                <a16:creationId xmlns:a16="http://schemas.microsoft.com/office/drawing/2014/main" id="{E325FF38-8E15-2747-460A-7F252D032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7675" y="1112700"/>
            <a:ext cx="2557573" cy="335607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 descr="텍스트, 신문, 출판, 신문활자이(가) 표시된 사진&#10;&#10;자동 생성된 설명">
            <a:extLst>
              <a:ext uri="{FF2B5EF4-FFF2-40B4-BE49-F238E27FC236}">
                <a16:creationId xmlns:a16="http://schemas.microsoft.com/office/drawing/2014/main" id="{684D47CB-9A36-2BB3-7F62-C9631BDEE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3123" y="1112699"/>
            <a:ext cx="2454869" cy="33560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33572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B137FEB-E581-221C-BD4D-DE4028DF4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1DFBFC34-255C-4950-5279-8828E7CB560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247E91A-D101-D9BF-CE60-4847B308C2B5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7EC4E1F-1F39-9A0F-6916-D5D9E91895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880B22-D320-2486-2AC0-79CF140F5FC3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Key</a:t>
            </a:r>
            <a:r>
              <a:rPr kumimoji="1" lang="ko-KR" altLang="en-US" dirty="0"/>
              <a:t> </a:t>
            </a:r>
            <a:r>
              <a:rPr kumimoji="1" lang="en-US" altLang="ko-KR" dirty="0"/>
              <a:t>Limitation of 3D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Visual Grounding</a:t>
            </a:r>
            <a:endParaRPr kumimoji="1"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F6F6D-CC26-52D6-3A7D-F6432CCF7911}"/>
              </a:ext>
            </a:extLst>
          </p:cNvPr>
          <p:cNvSpPr txBox="1"/>
          <p:nvPr/>
        </p:nvSpPr>
        <p:spPr>
          <a:xfrm>
            <a:off x="1621036" y="1216094"/>
            <a:ext cx="735008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- </a:t>
            </a:r>
            <a:r>
              <a:rPr lang="en" altLang="ko-KR" sz="1200" b="1" dirty="0"/>
              <a:t>Strong reliance on full supervision</a:t>
            </a:r>
            <a:br>
              <a:rPr lang="en" altLang="ko-KR" sz="1200" dirty="0"/>
            </a:br>
            <a:r>
              <a:rPr lang="en" altLang="ko-KR" sz="1200" dirty="0"/>
              <a:t>	Heavy dependence on large-scale, manually annotated datasets.</a:t>
            </a:r>
            <a:br>
              <a:rPr lang="en" altLang="ko-KR" sz="1200" dirty="0"/>
            </a:br>
            <a:endParaRPr lang="en" altLang="ko-KR" sz="1200" dirty="0"/>
          </a:p>
          <a:p>
            <a:r>
              <a:rPr lang="en-US" altLang="ko-KR" sz="1200" b="1" dirty="0"/>
              <a:t>- </a:t>
            </a:r>
            <a:r>
              <a:rPr lang="en" altLang="ko-KR" sz="1200" b="1" dirty="0"/>
              <a:t>Foreground–background ambiguity &amp; spatial reasoning</a:t>
            </a:r>
            <a:br>
              <a:rPr lang="en" altLang="ko-KR" sz="1200" dirty="0"/>
            </a:br>
            <a:r>
              <a:rPr lang="en" altLang="ko-KR" sz="1200" dirty="0"/>
              <a:t>	Difficulty in distinguishing targets from clutter and reasoning about complex spatial relations.</a:t>
            </a:r>
            <a:br>
              <a:rPr lang="en" altLang="ko-KR" sz="1200" dirty="0"/>
            </a:br>
            <a:endParaRPr lang="en" altLang="ko-KR" sz="1200" dirty="0"/>
          </a:p>
          <a:p>
            <a:r>
              <a:rPr lang="en-US" altLang="ko-KR" sz="1200" b="1" dirty="0"/>
              <a:t>- </a:t>
            </a:r>
            <a:r>
              <a:rPr lang="en" altLang="ko-KR" sz="1200" b="1" dirty="0"/>
              <a:t>Lack of robustness in real-world settings</a:t>
            </a:r>
            <a:br>
              <a:rPr lang="en" altLang="ko-KR" sz="1200" dirty="0"/>
            </a:br>
            <a:r>
              <a:rPr lang="en" altLang="ko-KR" sz="1200" dirty="0"/>
              <a:t>	Struggles with uncertain </a:t>
            </a:r>
            <a:r>
              <a:rPr lang="en-US" altLang="ko-KR" sz="1200" dirty="0"/>
              <a:t>situation(</a:t>
            </a:r>
            <a:r>
              <a:rPr lang="en" altLang="ko-KR" sz="1200" dirty="0"/>
              <a:t>multi-object, no-object, …)</a:t>
            </a:r>
          </a:p>
          <a:p>
            <a:br>
              <a:rPr lang="en-US" altLang="ko-KR" sz="1200" b="1" dirty="0"/>
            </a:br>
            <a:r>
              <a:rPr lang="en-US" altLang="ko-KR" sz="1200" b="1" dirty="0"/>
              <a:t>- </a:t>
            </a:r>
            <a:r>
              <a:rPr lang="en" altLang="ko-KR" sz="1200" b="1" dirty="0"/>
              <a:t>Feature space discrepancy</a:t>
            </a:r>
            <a:br>
              <a:rPr lang="en" altLang="ko-KR" sz="1200" dirty="0"/>
            </a:br>
            <a:r>
              <a:rPr lang="en" altLang="ko-KR" sz="1200" dirty="0"/>
              <a:t>	Misalignment between visual and linguistic feature representations.</a:t>
            </a:r>
          </a:p>
          <a:p>
            <a:br>
              <a:rPr lang="en-US" altLang="ko-KR" sz="1200" b="1" dirty="0"/>
            </a:br>
            <a:r>
              <a:rPr lang="en-US" altLang="ko-KR" sz="1200" b="1" dirty="0"/>
              <a:t>- </a:t>
            </a:r>
            <a:r>
              <a:rPr lang="en" altLang="ko-KR" sz="1200" b="1" dirty="0"/>
              <a:t>Insufficient local reasoning</a:t>
            </a:r>
            <a:br>
              <a:rPr lang="en" altLang="ko-KR" sz="1200" dirty="0"/>
            </a:br>
            <a:r>
              <a:rPr lang="en" altLang="ko-KR" sz="1200" dirty="0"/>
              <a:t>	Limited ability to capture fine-grained details and object-level semantics.</a:t>
            </a:r>
          </a:p>
          <a:p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06727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2C7037E2-7430-CB3D-DE64-FE7F5E58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BAEC621-0250-FF04-0817-3D9C1E25D0D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39B50F5-8C0D-4FD3-D53D-5EC50C791D2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182D33E-4492-4672-62DD-3F2020F985E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2428D02-2E8F-2097-2768-D8281CE06C15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Key</a:t>
            </a:r>
            <a:r>
              <a:rPr kumimoji="1" lang="ko-KR" altLang="en-US" dirty="0"/>
              <a:t> </a:t>
            </a:r>
            <a:r>
              <a:rPr kumimoji="1" lang="en-US" altLang="ko-KR" dirty="0"/>
              <a:t>Limitation of 3D</a:t>
            </a:r>
            <a:r>
              <a:rPr kumimoji="1" lang="ko-KR" altLang="en-US" dirty="0"/>
              <a:t> </a:t>
            </a:r>
            <a:r>
              <a:rPr kumimoji="1" lang="en-US" altLang="ko-KR" dirty="0"/>
              <a:t>Visual Grounding</a:t>
            </a:r>
            <a:endParaRPr kumimoji="1"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76765-5A00-1A7A-FAB8-C61B98DDD473}"/>
              </a:ext>
            </a:extLst>
          </p:cNvPr>
          <p:cNvSpPr txBox="1"/>
          <p:nvPr/>
        </p:nvSpPr>
        <p:spPr>
          <a:xfrm>
            <a:off x="1621036" y="1216094"/>
            <a:ext cx="735008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" altLang="ko-KR" sz="1200" b="1" dirty="0">
                <a:solidFill>
                  <a:schemeClr val="bg1">
                    <a:lumMod val="75000"/>
                  </a:schemeClr>
                </a:solidFill>
              </a:rPr>
              <a:t>Strong reliance on full supervision</a:t>
            </a:r>
            <a:b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	Heavy dependence on large-scale, manually annotated datasets.</a:t>
            </a:r>
            <a:br>
              <a:rPr lang="en" altLang="ko-KR" sz="1200" dirty="0"/>
            </a:br>
            <a:endParaRPr lang="en" altLang="ko-KR" sz="1200" dirty="0"/>
          </a:p>
          <a:p>
            <a:r>
              <a:rPr lang="en-US" altLang="ko-KR" sz="1200" b="1" dirty="0"/>
              <a:t>- </a:t>
            </a:r>
            <a:r>
              <a:rPr lang="en" altLang="ko-KR" sz="1200" b="1" dirty="0"/>
              <a:t>Foreground–background ambiguity &amp; spatial reasoning</a:t>
            </a:r>
            <a:br>
              <a:rPr lang="en" altLang="ko-KR" sz="1200" dirty="0"/>
            </a:br>
            <a:r>
              <a:rPr lang="en" altLang="ko-KR" sz="1200" dirty="0"/>
              <a:t>	Difficulty in distinguishing targets from clutter and reasoning about complex spatial relations.</a:t>
            </a:r>
            <a:br>
              <a:rPr lang="en" altLang="ko-KR" sz="1200" dirty="0"/>
            </a:br>
            <a:endParaRPr lang="en" altLang="ko-KR" sz="1200" dirty="0"/>
          </a:p>
          <a:p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" altLang="ko-KR" sz="1200" b="1" dirty="0">
                <a:solidFill>
                  <a:schemeClr val="bg1">
                    <a:lumMod val="75000"/>
                  </a:schemeClr>
                </a:solidFill>
              </a:rPr>
              <a:t>Lack of robustness in real-world settings</a:t>
            </a:r>
            <a:b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	Struggles with uncertain </a:t>
            </a: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situation(</a:t>
            </a: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multi-object, no-object, …)</a:t>
            </a:r>
          </a:p>
          <a:p>
            <a:b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" altLang="ko-KR" sz="1200" b="1" dirty="0">
                <a:solidFill>
                  <a:schemeClr val="bg1">
                    <a:lumMod val="75000"/>
                  </a:schemeClr>
                </a:solidFill>
              </a:rPr>
              <a:t>Feature space discrepancy</a:t>
            </a:r>
            <a:b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	Misalignment between visual and linguistic feature representations.</a:t>
            </a:r>
          </a:p>
          <a:p>
            <a:b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</a:rPr>
              <a:t>- </a:t>
            </a:r>
            <a:r>
              <a:rPr lang="en" altLang="ko-KR" sz="1200" b="1" dirty="0">
                <a:solidFill>
                  <a:schemeClr val="bg1">
                    <a:lumMod val="75000"/>
                  </a:schemeClr>
                </a:solidFill>
              </a:rPr>
              <a:t>Insufficient local reasoning</a:t>
            </a:r>
            <a:b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" altLang="ko-KR" sz="1200" dirty="0">
                <a:solidFill>
                  <a:schemeClr val="bg1">
                    <a:lumMod val="75000"/>
                  </a:schemeClr>
                </a:solidFill>
              </a:rPr>
              <a:t>	Limited ability to capture fine-grained details and object-level semantics.</a:t>
            </a:r>
          </a:p>
          <a:p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351871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6701622-4C58-45E5-0967-93CCD72BB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75BF61F-7C31-0F88-3E94-46FD16683B6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982E9BE3-64A8-A1B5-0CB7-A441FA4C481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AA08BB9-B430-01F6-B550-0CD5C2E5CFF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D066267-8C65-6C4D-2F3B-D615FC60CA6D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SceneFun3d</a:t>
            </a:r>
            <a:endParaRPr kumimoji="1" lang="ko-KR" altLang="en-US" sz="2000" dirty="0"/>
          </a:p>
        </p:txBody>
      </p:sp>
      <p:pic>
        <p:nvPicPr>
          <p:cNvPr id="3" name="그림 2" descr="텍스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5700DBED-D3CC-FB30-EDF3-257022767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604" y="1311859"/>
            <a:ext cx="3323831" cy="26020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 descr="스크린샷, 노랑, 디자인이(가) 표시된 사진&#10;&#10;자동 생성된 설명">
            <a:extLst>
              <a:ext uri="{FF2B5EF4-FFF2-40B4-BE49-F238E27FC236}">
                <a16:creationId xmlns:a16="http://schemas.microsoft.com/office/drawing/2014/main" id="{35DD2BC9-5743-0360-D1F4-5FD958031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963" y="1681420"/>
            <a:ext cx="4022604" cy="1862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4AF37D0-5F0F-8DF9-A238-169A11B542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977" y="4037361"/>
            <a:ext cx="5950426" cy="303273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15635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3F3ECBF-6466-B5C8-C883-ABEC2881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829AC9B-51ED-9CD4-D1D7-A104212C398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E32A43B-080C-27B7-D00E-0B5920FBE65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99F8A1E-E769-883E-3D7E-D5C163305F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2D0468BE-5536-0CC2-2148-9B217DCD6A3E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SceneFun3d</a:t>
            </a:r>
            <a:endParaRPr kumimoji="1" lang="ko-KR" altLang="en-US" sz="2000" dirty="0"/>
          </a:p>
        </p:txBody>
      </p:sp>
      <p:pic>
        <p:nvPicPr>
          <p:cNvPr id="15" name="그림 14" descr="텍스트, 스크린샷, 폰트, 플래시 메모리이(가) 표시된 사진&#10;&#10;자동 생성된 설명">
            <a:extLst>
              <a:ext uri="{FF2B5EF4-FFF2-40B4-BE49-F238E27FC236}">
                <a16:creationId xmlns:a16="http://schemas.microsoft.com/office/drawing/2014/main" id="{F4F776F2-F59E-9508-E0ED-5E09A8D4C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3650" y="1821666"/>
            <a:ext cx="5851528" cy="2187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AAE1D89-706A-7F46-DC06-580BEB9DA875}"/>
              </a:ext>
            </a:extLst>
          </p:cNvPr>
          <p:cNvSpPr txBox="1"/>
          <p:nvPr/>
        </p:nvSpPr>
        <p:spPr>
          <a:xfrm>
            <a:off x="1500388" y="116482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The way to interact with an element: Affordance</a:t>
            </a:r>
            <a:endParaRPr lang="ko-KR" altLang="en-US" sz="14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3821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7B8791AC-EF35-9A89-4E78-6560E4F3F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E36271A2-9EAD-FD8A-4D9A-071420BCB58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8A01958-2D51-A3A0-091A-1D99659FF53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F793FA9-1D36-A208-DBBB-B589728E6F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744EDEA-BFE2-43F5-BD30-7F20D2B1B371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SceneFun3d</a:t>
            </a:r>
            <a:endParaRPr kumimoji="1" lang="ko-KR" alt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A3B3A-1C3D-D199-EE18-6062BB989BEF}"/>
              </a:ext>
            </a:extLst>
          </p:cNvPr>
          <p:cNvSpPr txBox="1"/>
          <p:nvPr/>
        </p:nvSpPr>
        <p:spPr>
          <a:xfrm>
            <a:off x="1500388" y="116482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The way to interact with an element: Affordance</a:t>
            </a:r>
            <a:endParaRPr lang="ko-KR" altLang="en-US" sz="1400" b="1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3" name="그림 2" descr="텍스트, 직사각형, 라인, 스크린샷이(가) 표시된 사진&#10;&#10;자동 생성된 설명">
            <a:extLst>
              <a:ext uri="{FF2B5EF4-FFF2-40B4-BE49-F238E27FC236}">
                <a16:creationId xmlns:a16="http://schemas.microsoft.com/office/drawing/2014/main" id="{1A5AE7CA-FE69-0851-732D-DD00C22B0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388" y="2349024"/>
            <a:ext cx="1928110" cy="1527936"/>
          </a:xfrm>
          <a:prstGeom prst="rect">
            <a:avLst/>
          </a:prstGeom>
        </p:spPr>
      </p:pic>
      <p:pic>
        <p:nvPicPr>
          <p:cNvPr id="5" name="그림 4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8A5D4BC2-7C22-B1E7-ED07-F696B9511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172" y="2188376"/>
            <a:ext cx="1867587" cy="1849232"/>
          </a:xfrm>
          <a:prstGeom prst="rect">
            <a:avLst/>
          </a:prstGeom>
        </p:spPr>
      </p:pic>
      <p:pic>
        <p:nvPicPr>
          <p:cNvPr id="7" name="그림 6" descr="텍스트, 폰트, 직사각형, 그래픽이(가) 표시된 사진&#10;&#10;자동 생성된 설명">
            <a:extLst>
              <a:ext uri="{FF2B5EF4-FFF2-40B4-BE49-F238E27FC236}">
                <a16:creationId xmlns:a16="http://schemas.microsoft.com/office/drawing/2014/main" id="{CBA06659-D120-2BF9-110D-32169A8411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33" y="2513758"/>
            <a:ext cx="1718703" cy="119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10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F1787D3-38D8-01E2-6695-1E5905A4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1884E3D2-01D3-E5D9-006D-C98A09B79C2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04F043ED-9B28-03D5-5901-CFD3F1EFFF9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52564DD2-32DB-E749-2001-721BC9747F2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0CA0E24-D6C9-9D5F-3BB7-92E60554B15B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Research Plan: </a:t>
            </a:r>
            <a:r>
              <a:rPr kumimoji="1" lang="en-US" altLang="ko-KR" dirty="0"/>
              <a:t>SceneFun3d baseline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</a:t>
            </a:r>
            <a:r>
              <a:rPr kumimoji="1" lang="en-US" altLang="ko-KR" dirty="0"/>
              <a:t>score</a:t>
            </a:r>
            <a:r>
              <a:rPr kumimoji="1" lang="ko-KR" altLang="en-US" dirty="0"/>
              <a:t> 향상</a:t>
            </a:r>
            <a:endParaRPr kumimoji="1" lang="ko-KR" altLang="en-US" sz="2000" dirty="0"/>
          </a:p>
        </p:txBody>
      </p:sp>
      <p:pic>
        <p:nvPicPr>
          <p:cNvPr id="4" name="그림 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1DB61C5C-A80B-F181-5A35-1DFE88EEA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904" y="1319238"/>
            <a:ext cx="3468932" cy="30005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43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6D86C3D-799D-2027-3A02-28768B19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아래쪽 화살표[D] 9">
            <a:extLst>
              <a:ext uri="{FF2B5EF4-FFF2-40B4-BE49-F238E27FC236}">
                <a16:creationId xmlns:a16="http://schemas.microsoft.com/office/drawing/2014/main" id="{1C1CF868-DA30-0D5D-F0EB-207EA8176C86}"/>
              </a:ext>
            </a:extLst>
          </p:cNvPr>
          <p:cNvSpPr/>
          <p:nvPr/>
        </p:nvSpPr>
        <p:spPr>
          <a:xfrm rot="19383748">
            <a:off x="5199538" y="3408567"/>
            <a:ext cx="247752" cy="52008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아래쪽 화살표[D] 2">
            <a:extLst>
              <a:ext uri="{FF2B5EF4-FFF2-40B4-BE49-F238E27FC236}">
                <a16:creationId xmlns:a16="http://schemas.microsoft.com/office/drawing/2014/main" id="{294DF1BD-73D9-DA66-D2FC-2555D7A4FBA1}"/>
              </a:ext>
            </a:extLst>
          </p:cNvPr>
          <p:cNvSpPr/>
          <p:nvPr/>
        </p:nvSpPr>
        <p:spPr>
          <a:xfrm rot="2138442">
            <a:off x="4525383" y="3385313"/>
            <a:ext cx="247752" cy="52008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3CAEE37-92B0-C335-AE07-D832606147F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DE6C7EA-7C45-1797-6A08-115A9F0486F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E856122-7E42-911A-686D-A9EB3D7C75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0A889B58-C904-EF04-07B2-2D0196FBD2A5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kumimoji="1" lang="en-US" altLang="ko-KR" sz="2000" dirty="0">
                <a:solidFill>
                  <a:srgbClr val="19264B"/>
                </a:solidFill>
                <a:latin typeface="NanumGothic ExtraBold"/>
                <a:ea typeface="NanumGothic ExtraBold"/>
                <a:sym typeface="NanumGothic ExtraBold"/>
              </a:rPr>
              <a:t>Pipeline Design</a:t>
            </a:r>
            <a:endParaRPr kumimoji="1" lang="ko-KR" altLang="en-US" sz="2000" dirty="0"/>
          </a:p>
        </p:txBody>
      </p:sp>
      <p:pic>
        <p:nvPicPr>
          <p:cNvPr id="16" name="그림 15" descr="스크린샷, 텍스트, 디자인이(가) 표시된 사진&#10;&#10;자동 생성된 설명">
            <a:extLst>
              <a:ext uri="{FF2B5EF4-FFF2-40B4-BE49-F238E27FC236}">
                <a16:creationId xmlns:a16="http://schemas.microsoft.com/office/drawing/2014/main" id="{51DD0155-9749-5693-8133-A6D024CEC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902" y="1679207"/>
            <a:ext cx="5419209" cy="17850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6E2A61-1FCF-FD0A-46DD-7C6AA946D454}"/>
              </a:ext>
            </a:extLst>
          </p:cNvPr>
          <p:cNvSpPr txBox="1"/>
          <p:nvPr/>
        </p:nvSpPr>
        <p:spPr>
          <a:xfrm>
            <a:off x="3083200" y="3825071"/>
            <a:ext cx="16097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이미지를 이용하여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Task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수행을 위한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object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functional element</a:t>
            </a:r>
            <a:r>
              <a:rPr kumimoji="1"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FE28DD-0715-9CFC-19DD-B96B9C9FF9D2}"/>
              </a:ext>
            </a:extLst>
          </p:cNvPr>
          <p:cNvSpPr txBox="1"/>
          <p:nvPr/>
        </p:nvSpPr>
        <p:spPr>
          <a:xfrm>
            <a:off x="5229639" y="3927627"/>
            <a:ext cx="2363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만약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잘못된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element</a:t>
            </a:r>
            <a:r>
              <a:rPr kumimoji="1"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찾았다면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혹은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object</a:t>
            </a:r>
            <a:r>
              <a:rPr kumimoji="1"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아예 찾지 못한다면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C93694F4-4B4F-CFDE-3176-6C41337009A4}"/>
              </a:ext>
            </a:extLst>
          </p:cNvPr>
          <p:cNvSpPr/>
          <p:nvPr/>
        </p:nvSpPr>
        <p:spPr>
          <a:xfrm>
            <a:off x="3975104" y="1635961"/>
            <a:ext cx="1901484" cy="1844084"/>
          </a:xfrm>
          <a:prstGeom prst="roundRect">
            <a:avLst/>
          </a:prstGeom>
          <a:solidFill>
            <a:srgbClr val="FF0000">
              <a:alpha val="0"/>
            </a:srgb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94797-7269-87CC-406D-E72A9859B10B}"/>
              </a:ext>
            </a:extLst>
          </p:cNvPr>
          <p:cNvSpPr txBox="1"/>
          <p:nvPr/>
        </p:nvSpPr>
        <p:spPr>
          <a:xfrm>
            <a:off x="6146285" y="1308904"/>
            <a:ext cx="1917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Fun3DU(CVPR 2025)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154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6D1D63A-E562-674A-B93B-FB4D63D25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아래쪽 화살표[D] 9">
            <a:extLst>
              <a:ext uri="{FF2B5EF4-FFF2-40B4-BE49-F238E27FC236}">
                <a16:creationId xmlns:a16="http://schemas.microsoft.com/office/drawing/2014/main" id="{F7D259A5-DA2C-51A4-77A2-619D35E31991}"/>
              </a:ext>
            </a:extLst>
          </p:cNvPr>
          <p:cNvSpPr/>
          <p:nvPr/>
        </p:nvSpPr>
        <p:spPr>
          <a:xfrm rot="19383748">
            <a:off x="5199538" y="3408567"/>
            <a:ext cx="247752" cy="52008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아래쪽 화살표[D] 2">
            <a:extLst>
              <a:ext uri="{FF2B5EF4-FFF2-40B4-BE49-F238E27FC236}">
                <a16:creationId xmlns:a16="http://schemas.microsoft.com/office/drawing/2014/main" id="{CF410620-57B4-E141-7D2C-00518F121F33}"/>
              </a:ext>
            </a:extLst>
          </p:cNvPr>
          <p:cNvSpPr/>
          <p:nvPr/>
        </p:nvSpPr>
        <p:spPr>
          <a:xfrm rot="2138442">
            <a:off x="4525383" y="3385313"/>
            <a:ext cx="247752" cy="52008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75E06778-3D57-971B-A340-DCB84210C74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0D92BF05-BFED-994C-1355-C084C890F51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7E68B96-23D0-DDEF-A019-8CC7FBA0169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8C59E3B-01DD-E48B-04B5-BD9B3AEE0BEE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kumimoji="1" lang="en-US" altLang="ko-KR" sz="2000" dirty="0">
                <a:solidFill>
                  <a:srgbClr val="19264B"/>
                </a:solidFill>
                <a:latin typeface="NanumGothic ExtraBold"/>
                <a:ea typeface="NanumGothic ExtraBold"/>
                <a:sym typeface="NanumGothic ExtraBold"/>
              </a:rPr>
              <a:t>Pipeline Design</a:t>
            </a:r>
            <a:endParaRPr kumimoji="1" lang="ko-KR" altLang="en-US" sz="2000" dirty="0"/>
          </a:p>
        </p:txBody>
      </p:sp>
      <p:pic>
        <p:nvPicPr>
          <p:cNvPr id="16" name="그림 15" descr="스크린샷, 텍스트, 디자인이(가) 표시된 사진&#10;&#10;자동 생성된 설명">
            <a:extLst>
              <a:ext uri="{FF2B5EF4-FFF2-40B4-BE49-F238E27FC236}">
                <a16:creationId xmlns:a16="http://schemas.microsoft.com/office/drawing/2014/main" id="{20568FDB-A518-0877-A302-CA2F25AF1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902" y="1679207"/>
            <a:ext cx="5419209" cy="17850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DAC3B2-A256-AE83-A56A-173A03F17879}"/>
              </a:ext>
            </a:extLst>
          </p:cNvPr>
          <p:cNvSpPr txBox="1"/>
          <p:nvPr/>
        </p:nvSpPr>
        <p:spPr>
          <a:xfrm>
            <a:off x="3083200" y="3825071"/>
            <a:ext cx="16097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이미지를 이용하여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Task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수행을 위한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object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endParaRPr kumimoji="1"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functional element</a:t>
            </a:r>
            <a:r>
              <a:rPr kumimoji="1"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4FFB5-46F5-9AF9-CF2A-4985EBE90AAA}"/>
              </a:ext>
            </a:extLst>
          </p:cNvPr>
          <p:cNvSpPr txBox="1"/>
          <p:nvPr/>
        </p:nvSpPr>
        <p:spPr>
          <a:xfrm>
            <a:off x="5229639" y="3927627"/>
            <a:ext cx="2363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만약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잘못된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element</a:t>
            </a:r>
            <a:r>
              <a:rPr kumimoji="1"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찾았다면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 algn="ctr"/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혹은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 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object</a:t>
            </a:r>
            <a:r>
              <a:rPr kumimoji="1"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kumimoji="1"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아예 찾지 못한다면</a:t>
            </a:r>
            <a:r>
              <a:rPr kumimoji="1" lang="en-US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76F2AE57-30F4-4B67-CEEF-3E788302AD58}"/>
              </a:ext>
            </a:extLst>
          </p:cNvPr>
          <p:cNvSpPr/>
          <p:nvPr/>
        </p:nvSpPr>
        <p:spPr>
          <a:xfrm>
            <a:off x="3975104" y="1635961"/>
            <a:ext cx="1901484" cy="1844084"/>
          </a:xfrm>
          <a:prstGeom prst="roundRect">
            <a:avLst/>
          </a:prstGeom>
          <a:solidFill>
            <a:srgbClr val="FF0000">
              <a:alpha val="0"/>
            </a:srgb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216707-5102-27DD-9813-2E9F74EAECC4}"/>
              </a:ext>
            </a:extLst>
          </p:cNvPr>
          <p:cNvSpPr txBox="1"/>
          <p:nvPr/>
        </p:nvSpPr>
        <p:spPr>
          <a:xfrm>
            <a:off x="6146285" y="1308904"/>
            <a:ext cx="19175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Fun3DU(CVPR 2025)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72B67E-49FD-487B-C702-6E3F82053C43}"/>
              </a:ext>
            </a:extLst>
          </p:cNvPr>
          <p:cNvSpPr/>
          <p:nvPr/>
        </p:nvSpPr>
        <p:spPr>
          <a:xfrm>
            <a:off x="-13" y="-37950"/>
            <a:ext cx="9144013" cy="5181450"/>
          </a:xfrm>
          <a:prstGeom prst="rect">
            <a:avLst/>
          </a:prstGeom>
          <a:solidFill>
            <a:schemeClr val="accent1">
              <a:lumMod val="5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 descr="텍스트, 가구, 스크린샷, 실내이(가) 표시된 사진&#10;&#10;자동 생성된 설명">
            <a:extLst>
              <a:ext uri="{FF2B5EF4-FFF2-40B4-BE49-F238E27FC236}">
                <a16:creationId xmlns:a16="http://schemas.microsoft.com/office/drawing/2014/main" id="{464D91CF-3CE4-0168-FA21-56271B164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4640" y="1595084"/>
            <a:ext cx="5330337" cy="223582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7C1E9B2-BA60-301A-63A8-54F351FBAFC1}"/>
              </a:ext>
            </a:extLst>
          </p:cNvPr>
          <p:cNvSpPr/>
          <p:nvPr/>
        </p:nvSpPr>
        <p:spPr>
          <a:xfrm>
            <a:off x="2204640" y="3825071"/>
            <a:ext cx="5330337" cy="302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DC41E-A470-562B-BB08-B9D294527CAD}"/>
              </a:ext>
            </a:extLst>
          </p:cNvPr>
          <p:cNvSpPr txBox="1"/>
          <p:nvPr/>
        </p:nvSpPr>
        <p:spPr>
          <a:xfrm>
            <a:off x="5363833" y="3768338"/>
            <a:ext cx="2210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AffordBot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2025)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0251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736FFD4-9B3F-C08B-D5D7-481785A5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9B400F33-D277-DA32-C2FC-24B28E7DCD8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7ED00E5-0B01-F7E7-EF0A-4D7753A72BA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DAB2A50A-0279-3415-7090-7D95489320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94F40F69-7D16-78A7-A0C1-5B3B5249C420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kumimoji="1" lang="en-US" altLang="ko-KR" sz="2000" dirty="0">
                <a:solidFill>
                  <a:srgbClr val="19264B"/>
                </a:solidFill>
                <a:latin typeface="NanumGothic ExtraBold"/>
                <a:ea typeface="NanumGothic ExtraBold"/>
                <a:sym typeface="NanumGothic ExtraBold"/>
              </a:rPr>
              <a:t>Pipeline Design</a:t>
            </a:r>
            <a:endParaRPr kumimoji="1" lang="ko-KR" altLang="en-US" sz="2000" dirty="0"/>
          </a:p>
        </p:txBody>
      </p:sp>
      <p:pic>
        <p:nvPicPr>
          <p:cNvPr id="18" name="그림 1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30D8B352-AFDA-0217-7B14-D962CC34B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18" y="1463055"/>
            <a:ext cx="4054350" cy="1506406"/>
          </a:xfrm>
          <a:prstGeom prst="rect">
            <a:avLst/>
          </a:prstGeom>
        </p:spPr>
      </p:pic>
      <p:pic>
        <p:nvPicPr>
          <p:cNvPr id="20" name="그림 19" descr="텍스트, 영수증, 폰트, 번호이(가) 표시된 사진&#10;&#10;자동 생성된 설명">
            <a:extLst>
              <a:ext uri="{FF2B5EF4-FFF2-40B4-BE49-F238E27FC236}">
                <a16:creationId xmlns:a16="http://schemas.microsoft.com/office/drawing/2014/main" id="{937CED73-636C-5AB3-227B-9065016CD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093" y="3209145"/>
            <a:ext cx="3956200" cy="134277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9153D6E-7E44-FF27-FE60-7DCBF591DFAE}"/>
              </a:ext>
            </a:extLst>
          </p:cNvPr>
          <p:cNvSpPr txBox="1"/>
          <p:nvPr/>
        </p:nvSpPr>
        <p:spPr>
          <a:xfrm>
            <a:off x="1560017" y="1123433"/>
            <a:ext cx="2210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AffordBot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2025)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5396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1A39B902-4D9C-3D2C-ADE3-B627C961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1B238574-3A95-C4CD-C47C-1899AED596C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1DBA5863-176E-4E1F-572D-6D761754300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277A0F56-6E8D-7037-48BB-FBD98EE6E94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EEB76A9-C455-44B9-195F-20EFCE77B133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kumimoji="1" lang="en-US" altLang="ko-KR" sz="2000" dirty="0">
                <a:solidFill>
                  <a:srgbClr val="19264B"/>
                </a:solidFill>
                <a:latin typeface="NanumGothic ExtraBold"/>
                <a:ea typeface="NanumGothic ExtraBold"/>
                <a:sym typeface="NanumGothic ExtraBold"/>
              </a:rPr>
              <a:t>Pipeline Design</a:t>
            </a:r>
            <a:endParaRPr kumimoji="1" lang="ko-KR" altLang="en-US" sz="2000" dirty="0"/>
          </a:p>
        </p:txBody>
      </p:sp>
      <p:pic>
        <p:nvPicPr>
          <p:cNvPr id="18" name="그림 1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5AF6330E-3DB7-918B-4FDC-CC53973D8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18" y="1463055"/>
            <a:ext cx="4054350" cy="1506406"/>
          </a:xfrm>
          <a:prstGeom prst="rect">
            <a:avLst/>
          </a:prstGeom>
        </p:spPr>
      </p:pic>
      <p:pic>
        <p:nvPicPr>
          <p:cNvPr id="20" name="그림 19" descr="텍스트, 영수증, 폰트, 번호이(가) 표시된 사진&#10;&#10;자동 생성된 설명">
            <a:extLst>
              <a:ext uri="{FF2B5EF4-FFF2-40B4-BE49-F238E27FC236}">
                <a16:creationId xmlns:a16="http://schemas.microsoft.com/office/drawing/2014/main" id="{186C9275-1991-9627-80EF-DFCE02F8D2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093" y="3209145"/>
            <a:ext cx="3956200" cy="134277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D1F0279-0BB9-000E-5887-4A78337218C2}"/>
              </a:ext>
            </a:extLst>
          </p:cNvPr>
          <p:cNvSpPr txBox="1"/>
          <p:nvPr/>
        </p:nvSpPr>
        <p:spPr>
          <a:xfrm>
            <a:off x="1560017" y="1123433"/>
            <a:ext cx="2210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AffordBot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2025)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54C58A-541C-AEAE-CF20-7B2210F778E6}"/>
              </a:ext>
            </a:extLst>
          </p:cNvPr>
          <p:cNvSpPr txBox="1"/>
          <p:nvPr/>
        </p:nvSpPr>
        <p:spPr>
          <a:xfrm>
            <a:off x="6228310" y="1495670"/>
            <a:ext cx="22365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여전히 </a:t>
            </a:r>
            <a:r>
              <a:rPr lang="en" altLang="ko-KR" sz="1000" dirty="0"/>
              <a:t>2D view </a:t>
            </a:r>
            <a:r>
              <a:rPr lang="ko-KR" altLang="en-US" sz="1000" dirty="0"/>
              <a:t>중심 구조</a:t>
            </a:r>
            <a:br>
              <a:rPr lang="en-US" altLang="ko-KR" sz="1000" dirty="0"/>
            </a:br>
            <a:r>
              <a:rPr lang="en-US" altLang="ko-KR" sz="1000" dirty="0"/>
              <a:t> =&gt; </a:t>
            </a:r>
            <a:r>
              <a:rPr lang="en" altLang="ko-KR" sz="1000" dirty="0"/>
              <a:t>geometry precision</a:t>
            </a:r>
            <a:r>
              <a:rPr lang="en-US" altLang="ko-KR" sz="1000" dirty="0"/>
              <a:t>, </a:t>
            </a:r>
            <a:r>
              <a:rPr lang="en" altLang="ko-KR" sz="1000" dirty="0"/>
              <a:t>occlusion</a:t>
            </a:r>
            <a:r>
              <a:rPr lang="en-US" altLang="ko-KR" sz="1000" dirty="0"/>
              <a:t>,</a:t>
            </a:r>
            <a:r>
              <a:rPr lang="en" altLang="ko-KR" sz="1000" dirty="0"/>
              <a:t> </a:t>
            </a:r>
          </a:p>
          <a:p>
            <a:r>
              <a:rPr lang="en" altLang="ko-KR" sz="1000" dirty="0"/>
              <a:t>depth-dependent affordance </a:t>
            </a:r>
            <a:r>
              <a:rPr lang="ko-KR" altLang="en-US" sz="1000" dirty="0"/>
              <a:t>문제</a:t>
            </a:r>
            <a:endParaRPr kumimoji="1" lang="ko-KR" altLang="en-US" sz="1000" dirty="0"/>
          </a:p>
        </p:txBody>
      </p:sp>
      <p:pic>
        <p:nvPicPr>
          <p:cNvPr id="25" name="그림 24" descr="인테리어 디자인, 실내, 벽, 소파이(가) 표시된 사진&#10;&#10;자동 생성된 설명">
            <a:extLst>
              <a:ext uri="{FF2B5EF4-FFF2-40B4-BE49-F238E27FC236}">
                <a16:creationId xmlns:a16="http://schemas.microsoft.com/office/drawing/2014/main" id="{B5AD5948-F60D-7594-A790-A9B1D0C95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368" y="2142962"/>
            <a:ext cx="1732197" cy="1969950"/>
          </a:xfrm>
          <a:prstGeom prst="rect">
            <a:avLst/>
          </a:prstGeom>
        </p:spPr>
      </p:pic>
      <p:pic>
        <p:nvPicPr>
          <p:cNvPr id="5" name="그림 4" descr="텍스트, 소파, 스크린샷, 건물이(가) 표시된 사진&#10;&#10;자동 생성된 설명">
            <a:extLst>
              <a:ext uri="{FF2B5EF4-FFF2-40B4-BE49-F238E27FC236}">
                <a16:creationId xmlns:a16="http://schemas.microsoft.com/office/drawing/2014/main" id="{67D5E5AC-669C-5EC1-9665-3C523037A7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6565" y="2169166"/>
            <a:ext cx="1665732" cy="1910243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0A2D54B5-F844-25BA-D27A-D6132550013F}"/>
              </a:ext>
            </a:extLst>
          </p:cNvPr>
          <p:cNvSpPr/>
          <p:nvPr/>
        </p:nvSpPr>
        <p:spPr>
          <a:xfrm>
            <a:off x="5614368" y="1123433"/>
            <a:ext cx="3397930" cy="3428489"/>
          </a:xfrm>
          <a:prstGeom prst="round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7EB670-A256-C4C6-DAF2-48E317CB9C7E}"/>
              </a:ext>
            </a:extLst>
          </p:cNvPr>
          <p:cNvSpPr/>
          <p:nvPr/>
        </p:nvSpPr>
        <p:spPr>
          <a:xfrm>
            <a:off x="2459729" y="1707660"/>
            <a:ext cx="1127464" cy="590550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9" name="구부러진 연결선[U] 8">
            <a:extLst>
              <a:ext uri="{FF2B5EF4-FFF2-40B4-BE49-F238E27FC236}">
                <a16:creationId xmlns:a16="http://schemas.microsoft.com/office/drawing/2014/main" id="{60C2433A-7510-EAC3-3CB4-34BE27905777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3587193" y="2002935"/>
            <a:ext cx="2027175" cy="834743"/>
          </a:xfrm>
          <a:prstGeom prst="curvedConnector3">
            <a:avLst>
              <a:gd name="adj1" fmla="val 46059"/>
            </a:avLst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718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AB684B3-C441-785D-D980-E34D1CD1C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E54B465-4604-9530-878B-684FD2EEB4D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C9B62BD6-0DD4-538B-9C2B-F3526B8FD54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E011493B-55D2-2B62-97DC-D98D34C13F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92B1A5-8C19-EECE-D4C9-2881BC80927E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kumimoji="1" lang="en-US" altLang="ko-KR" sz="2000" dirty="0">
                <a:solidFill>
                  <a:srgbClr val="19264B"/>
                </a:solidFill>
                <a:latin typeface="NanumGothic ExtraBold"/>
                <a:ea typeface="NanumGothic ExtraBold"/>
                <a:sym typeface="NanumGothic ExtraBold"/>
              </a:rPr>
              <a:t>Pipeline Design</a:t>
            </a:r>
            <a:endParaRPr kumimoji="1" lang="ko-KR" altLang="en-US" sz="2000" dirty="0"/>
          </a:p>
        </p:txBody>
      </p:sp>
      <p:pic>
        <p:nvPicPr>
          <p:cNvPr id="18" name="그림 17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3BE32E4D-D53B-878A-86DA-B627CDB40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18" y="1463055"/>
            <a:ext cx="4054350" cy="15064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94EDFA3-F677-2961-3013-8C665CC30D9D}"/>
              </a:ext>
            </a:extLst>
          </p:cNvPr>
          <p:cNvSpPr txBox="1"/>
          <p:nvPr/>
        </p:nvSpPr>
        <p:spPr>
          <a:xfrm>
            <a:off x="1560017" y="1123433"/>
            <a:ext cx="2210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AffordBot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1" lang="en-US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2025)</a:t>
            </a:r>
            <a:endParaRPr kumimoji="1"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그림 2" descr="스크린샷, 디자인이(가) 표시된 사진&#10;&#10;자동 생성된 설명">
            <a:extLst>
              <a:ext uri="{FF2B5EF4-FFF2-40B4-BE49-F238E27FC236}">
                <a16:creationId xmlns:a16="http://schemas.microsoft.com/office/drawing/2014/main" id="{FBDB61BA-86AD-89F7-8EF6-70DB71349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368" y="3506461"/>
            <a:ext cx="2159000" cy="1181100"/>
          </a:xfrm>
          <a:prstGeom prst="rect">
            <a:avLst/>
          </a:prstGeom>
          <a:ln w="44450" cap="flat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159000"/>
                      <a:gd name="connsiteY0" fmla="*/ 0 h 1181100"/>
                      <a:gd name="connsiteX1" fmla="*/ 2159000 w 2159000"/>
                      <a:gd name="connsiteY1" fmla="*/ 0 h 1181100"/>
                      <a:gd name="connsiteX2" fmla="*/ 2159000 w 2159000"/>
                      <a:gd name="connsiteY2" fmla="*/ 1181100 h 1181100"/>
                      <a:gd name="connsiteX3" fmla="*/ 0 w 2159000"/>
                      <a:gd name="connsiteY3" fmla="*/ 1181100 h 1181100"/>
                      <a:gd name="connsiteX4" fmla="*/ 0 w 2159000"/>
                      <a:gd name="connsiteY4" fmla="*/ 0 h 1181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159000" h="1181100" fill="none" extrusionOk="0">
                        <a:moveTo>
                          <a:pt x="0" y="0"/>
                        </a:moveTo>
                        <a:cubicBezTo>
                          <a:pt x="905025" y="-49533"/>
                          <a:pt x="1736955" y="-14809"/>
                          <a:pt x="2159000" y="0"/>
                        </a:cubicBezTo>
                        <a:cubicBezTo>
                          <a:pt x="2192988" y="574723"/>
                          <a:pt x="2066634" y="979380"/>
                          <a:pt x="2159000" y="1181100"/>
                        </a:cubicBezTo>
                        <a:cubicBezTo>
                          <a:pt x="1906013" y="1132869"/>
                          <a:pt x="924776" y="1265555"/>
                          <a:pt x="0" y="1181100"/>
                        </a:cubicBezTo>
                        <a:cubicBezTo>
                          <a:pt x="11016" y="736999"/>
                          <a:pt x="91786" y="221755"/>
                          <a:pt x="0" y="0"/>
                        </a:cubicBezTo>
                        <a:close/>
                      </a:path>
                      <a:path w="2159000" h="1181100" stroke="0" extrusionOk="0">
                        <a:moveTo>
                          <a:pt x="0" y="0"/>
                        </a:moveTo>
                        <a:cubicBezTo>
                          <a:pt x="898732" y="118645"/>
                          <a:pt x="1463775" y="116012"/>
                          <a:pt x="2159000" y="0"/>
                        </a:cubicBezTo>
                        <a:cubicBezTo>
                          <a:pt x="2217725" y="534613"/>
                          <a:pt x="2202312" y="666318"/>
                          <a:pt x="2159000" y="1181100"/>
                        </a:cubicBezTo>
                        <a:cubicBezTo>
                          <a:pt x="1132801" y="1315700"/>
                          <a:pt x="934610" y="1023904"/>
                          <a:pt x="0" y="1181100"/>
                        </a:cubicBezTo>
                        <a:cubicBezTo>
                          <a:pt x="-46386" y="655747"/>
                          <a:pt x="-49571" y="30838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1405A96-8799-342C-9AD2-199CF5D46CB0}"/>
              </a:ext>
            </a:extLst>
          </p:cNvPr>
          <p:cNvSpPr/>
          <p:nvPr/>
        </p:nvSpPr>
        <p:spPr>
          <a:xfrm>
            <a:off x="2530136" y="2285814"/>
            <a:ext cx="1127464" cy="590550"/>
          </a:xfrm>
          <a:prstGeom prst="rect">
            <a:avLst/>
          </a:prstGeom>
          <a:solidFill>
            <a:schemeClr val="accent1">
              <a:alpha val="0"/>
            </a:schemeClr>
          </a:solidFill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95E51D-E9AA-CBD5-2C13-F1F5EB24E045}"/>
              </a:ext>
            </a:extLst>
          </p:cNvPr>
          <p:cNvSpPr txBox="1"/>
          <p:nvPr/>
        </p:nvSpPr>
        <p:spPr>
          <a:xfrm>
            <a:off x="4394347" y="3369605"/>
            <a:ext cx="3634328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Descriptor Generation</a:t>
            </a:r>
            <a:r>
              <a:rPr lang="en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br>
              <a:rPr lang="en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scene 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객체들의 </a:t>
            </a:r>
            <a:r>
              <a:rPr lang="en" altLang="ko-KR" sz="1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geometric–semantic descriptor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생성</a:t>
            </a:r>
            <a:endParaRPr lang="en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" altLang="ko-KR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" altLang="ko-KR" sz="10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Geo-Sem Descriptor</a:t>
            </a:r>
          </a:p>
          <a:p>
            <a:r>
              <a:rPr lang="en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geometry: shape, position, normal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</a:t>
            </a:r>
            <a:r>
              <a:rPr lang="en-US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en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</a:t>
            </a:r>
          </a:p>
          <a:p>
            <a:r>
              <a:rPr lang="en" altLang="ko-KR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semantics: affordance label, part ID </a:t>
            </a:r>
            <a:r>
              <a:rPr lang="ko-KR" altLang="en-US" sz="10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 의미적 정보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93DEE93-25B2-31D0-78C5-2E6A13F86B65}"/>
              </a:ext>
            </a:extLst>
          </p:cNvPr>
          <p:cNvCxnSpPr>
            <a:stCxn id="8" idx="2"/>
            <a:endCxn id="3" idx="0"/>
          </p:cNvCxnSpPr>
          <p:nvPr/>
        </p:nvCxnSpPr>
        <p:spPr>
          <a:xfrm>
            <a:off x="3093868" y="2876364"/>
            <a:ext cx="0" cy="630097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3D32D93-BAA0-19E1-4403-A50B99B289D1}"/>
              </a:ext>
            </a:extLst>
          </p:cNvPr>
          <p:cNvSpPr txBox="1"/>
          <p:nvPr/>
        </p:nvSpPr>
        <p:spPr>
          <a:xfrm>
            <a:off x="4394347" y="4487506"/>
            <a:ext cx="29787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Mask3D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ScanNet200 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사전학습 가중치에서 시작해 </a:t>
            </a:r>
            <a:endParaRPr lang="en-US" altLang="ko-KR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" altLang="ko-KR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SceneFun3D</a:t>
            </a:r>
            <a:r>
              <a:rPr lang="ko-KR" altLang="en-US" sz="1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</a:t>
            </a:r>
            <a:r>
              <a:rPr lang="ko-KR" altLang="en-US" sz="10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파인튜닝</a:t>
            </a:r>
            <a:endParaRPr kumimoji="1" lang="ko-KR" altLang="en-US" sz="1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57C88A-FB5C-9BB7-7699-5997EE59CCD7}"/>
              </a:ext>
            </a:extLst>
          </p:cNvPr>
          <p:cNvSpPr txBox="1"/>
          <p:nvPr/>
        </p:nvSpPr>
        <p:spPr>
          <a:xfrm>
            <a:off x="6000717" y="2016203"/>
            <a:ext cx="2831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1000" b="1" dirty="0"/>
              <a:t>Geo-Sem Descriptor</a:t>
            </a:r>
            <a:r>
              <a:rPr lang="ko-KR" altLang="en-US" sz="1000" b="1" dirty="0" err="1"/>
              <a:t>를</a:t>
            </a:r>
            <a:r>
              <a:rPr lang="ko-KR" altLang="en-US" sz="1000" b="1" dirty="0"/>
              <a:t> </a:t>
            </a:r>
            <a:r>
              <a:rPr lang="en" altLang="ko-KR" sz="1000" b="1" dirty="0"/>
              <a:t>MLLM </a:t>
            </a:r>
            <a:r>
              <a:rPr lang="ko-KR" altLang="en-US" sz="1000" b="1" dirty="0"/>
              <a:t>입력 형식으로 </a:t>
            </a:r>
            <a:endParaRPr lang="en-US" altLang="ko-KR" sz="1000" b="1" dirty="0"/>
          </a:p>
          <a:p>
            <a:r>
              <a:rPr lang="ko-KR" altLang="en-US" sz="1000" b="1" dirty="0"/>
              <a:t>직접 매핑할 수 있다면</a:t>
            </a:r>
            <a:r>
              <a:rPr lang="en-US" altLang="ko-KR" sz="1000" b="1" dirty="0"/>
              <a:t>?</a:t>
            </a:r>
            <a:endParaRPr kumimoji="1"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742611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FDE5BB1-4F0E-104F-C2F3-9803B60F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F28394A-FA44-F5DC-1423-53EAAE52818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58DB7AD-F1CE-8070-B99F-7E1F4A16AB3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9DA51A90-0213-35B2-C2AE-9FFB8C3993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1084F88-39D1-5530-C4A4-D1040511B67D}"/>
              </a:ext>
            </a:extLst>
          </p:cNvPr>
          <p:cNvSpPr txBox="1"/>
          <p:nvPr/>
        </p:nvSpPr>
        <p:spPr>
          <a:xfrm>
            <a:off x="1408974" y="323351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kumimoji="1" lang="en-US" altLang="ko-KR" sz="2000" dirty="0">
                <a:solidFill>
                  <a:srgbClr val="19264B"/>
                </a:solidFill>
                <a:latin typeface="NanumGothic ExtraBold"/>
                <a:ea typeface="NanumGothic ExtraBold"/>
                <a:sym typeface="NanumGothic ExtraBold"/>
              </a:rPr>
              <a:t>Pipeline Design</a:t>
            </a:r>
            <a:endParaRPr kumimoji="1" lang="ko-KR" altLang="en-US" sz="20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C6A95AB-4943-45FD-D52B-152F8C0B41DA}"/>
              </a:ext>
            </a:extLst>
          </p:cNvPr>
          <p:cNvGrpSpPr/>
          <p:nvPr/>
        </p:nvGrpSpPr>
        <p:grpSpPr>
          <a:xfrm>
            <a:off x="1560017" y="1277321"/>
            <a:ext cx="7118681" cy="2095500"/>
            <a:chOff x="1560017" y="1738880"/>
            <a:chExt cx="7118681" cy="2095500"/>
          </a:xfrm>
        </p:grpSpPr>
        <p:pic>
          <p:nvPicPr>
            <p:cNvPr id="3" name="그림 2" descr="스크린샷, 디자인이(가) 표시된 사진&#10;&#10;자동 생성된 설명">
              <a:extLst>
                <a:ext uri="{FF2B5EF4-FFF2-40B4-BE49-F238E27FC236}">
                  <a16:creationId xmlns:a16="http://schemas.microsoft.com/office/drawing/2014/main" id="{D5D3447A-6485-2BCF-EB3A-DFC372BCC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858"/>
            <a:stretch/>
          </p:blipFill>
          <p:spPr>
            <a:xfrm>
              <a:off x="2923296" y="2013847"/>
              <a:ext cx="2054097" cy="1181100"/>
            </a:xfrm>
            <a:prstGeom prst="rect">
              <a:avLst/>
            </a:prstGeom>
            <a:ln w="44450" cap="flat">
              <a:solidFill>
                <a:srgbClr val="FF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2159000"/>
                        <a:gd name="connsiteY0" fmla="*/ 0 h 1181100"/>
                        <a:gd name="connsiteX1" fmla="*/ 2159000 w 2159000"/>
                        <a:gd name="connsiteY1" fmla="*/ 0 h 1181100"/>
                        <a:gd name="connsiteX2" fmla="*/ 2159000 w 2159000"/>
                        <a:gd name="connsiteY2" fmla="*/ 1181100 h 1181100"/>
                        <a:gd name="connsiteX3" fmla="*/ 0 w 2159000"/>
                        <a:gd name="connsiteY3" fmla="*/ 1181100 h 1181100"/>
                        <a:gd name="connsiteX4" fmla="*/ 0 w 2159000"/>
                        <a:gd name="connsiteY4" fmla="*/ 0 h 11811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159000" h="1181100" fill="none" extrusionOk="0">
                          <a:moveTo>
                            <a:pt x="0" y="0"/>
                          </a:moveTo>
                          <a:cubicBezTo>
                            <a:pt x="905025" y="-49533"/>
                            <a:pt x="1736955" y="-14809"/>
                            <a:pt x="2159000" y="0"/>
                          </a:cubicBezTo>
                          <a:cubicBezTo>
                            <a:pt x="2192988" y="574723"/>
                            <a:pt x="2066634" y="979380"/>
                            <a:pt x="2159000" y="1181100"/>
                          </a:cubicBezTo>
                          <a:cubicBezTo>
                            <a:pt x="1906013" y="1132869"/>
                            <a:pt x="924776" y="1265555"/>
                            <a:pt x="0" y="1181100"/>
                          </a:cubicBezTo>
                          <a:cubicBezTo>
                            <a:pt x="11016" y="736999"/>
                            <a:pt x="91786" y="221755"/>
                            <a:pt x="0" y="0"/>
                          </a:cubicBezTo>
                          <a:close/>
                        </a:path>
                        <a:path w="2159000" h="1181100" stroke="0" extrusionOk="0">
                          <a:moveTo>
                            <a:pt x="0" y="0"/>
                          </a:moveTo>
                          <a:cubicBezTo>
                            <a:pt x="898732" y="118645"/>
                            <a:pt x="1463775" y="116012"/>
                            <a:pt x="2159000" y="0"/>
                          </a:cubicBezTo>
                          <a:cubicBezTo>
                            <a:pt x="2217725" y="534613"/>
                            <a:pt x="2202312" y="666318"/>
                            <a:pt x="2159000" y="1181100"/>
                          </a:cubicBezTo>
                          <a:cubicBezTo>
                            <a:pt x="1132801" y="1315700"/>
                            <a:pt x="934610" y="1023904"/>
                            <a:pt x="0" y="1181100"/>
                          </a:cubicBezTo>
                          <a:cubicBezTo>
                            <a:pt x="-46386" y="655747"/>
                            <a:pt x="-49571" y="308380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</p:pic>
        <p:pic>
          <p:nvPicPr>
            <p:cNvPr id="4" name="그림 3" descr="텍스트, 인간의 얼굴, 만화 영화, 사람이(가) 표시된 사진&#10;&#10;자동 생성된 설명">
              <a:extLst>
                <a:ext uri="{FF2B5EF4-FFF2-40B4-BE49-F238E27FC236}">
                  <a16:creationId xmlns:a16="http://schemas.microsoft.com/office/drawing/2014/main" id="{70A0466F-D6CA-2845-D96B-B7C7B24E5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60017" y="1738880"/>
              <a:ext cx="1320800" cy="209550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5FD8D45-033D-AA60-EDEE-6B8D08D3D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4022" y="2300257"/>
              <a:ext cx="1751179" cy="323747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pic>
          <p:nvPicPr>
            <p:cNvPr id="10" name="그림 9" descr="만화 영화, 텍스트, 클립아트, 폰트이(가) 표시된 사진&#10;&#10;자동 생성된 설명">
              <a:extLst>
                <a:ext uri="{FF2B5EF4-FFF2-40B4-BE49-F238E27FC236}">
                  <a16:creationId xmlns:a16="http://schemas.microsoft.com/office/drawing/2014/main" id="{E09A5F91-4CFF-1847-0F2B-902303736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70598" y="2004931"/>
              <a:ext cx="1308100" cy="914400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4DCE19B7-332C-DEFD-660B-651F75398A20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4744649" y="2462131"/>
              <a:ext cx="52937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02A318F3-9070-130E-4516-B327880BA164}"/>
                </a:ext>
              </a:extLst>
            </p:cNvPr>
            <p:cNvCxnSpPr>
              <a:cxnSpLocks/>
              <a:stCxn id="7" idx="3"/>
              <a:endCxn id="10" idx="1"/>
            </p:cNvCxnSpPr>
            <p:nvPr/>
          </p:nvCxnSpPr>
          <p:spPr>
            <a:xfrm>
              <a:off x="7025201" y="2462131"/>
              <a:ext cx="34539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FCC47BA-A5F1-C20A-AA43-7DE5C8E8450B}"/>
              </a:ext>
            </a:extLst>
          </p:cNvPr>
          <p:cNvGrpSpPr/>
          <p:nvPr/>
        </p:nvGrpSpPr>
        <p:grpSpPr>
          <a:xfrm>
            <a:off x="2674513" y="3570719"/>
            <a:ext cx="5199017" cy="1077254"/>
            <a:chOff x="2769326" y="3834380"/>
            <a:chExt cx="5199017" cy="1077254"/>
          </a:xfrm>
        </p:grpSpPr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D37DE18D-D52E-4C9A-836A-C92E8A3A15CD}"/>
                </a:ext>
              </a:extLst>
            </p:cNvPr>
            <p:cNvSpPr/>
            <p:nvPr/>
          </p:nvSpPr>
          <p:spPr>
            <a:xfrm>
              <a:off x="2769326" y="3834380"/>
              <a:ext cx="5199017" cy="1077254"/>
            </a:xfrm>
            <a:prstGeom prst="roundRect">
              <a:avLst/>
            </a:prstGeom>
            <a:solidFill>
              <a:schemeClr val="accent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D6123CC-684F-743B-FD72-CA69B60775B4}"/>
                </a:ext>
              </a:extLst>
            </p:cNvPr>
            <p:cNvSpPr txBox="1"/>
            <p:nvPr/>
          </p:nvSpPr>
          <p:spPr>
            <a:xfrm>
              <a:off x="4438128" y="4125582"/>
              <a:ext cx="324159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최대한 </a:t>
              </a:r>
              <a:r>
                <a:rPr kumimoji="1"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3D</a:t>
              </a:r>
              <a:r>
                <a:rPr kumimoji="1"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에서 주어지는 정보들을 보존하여</a:t>
              </a:r>
              <a:endParaRPr kumimoji="1"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kumimoji="1" lang="en-US" altLang="ko-KR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MLLM</a:t>
              </a:r>
              <a:r>
                <a:rPr kumimoji="1" lang="ko-KR" altLang="en-US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에</a:t>
              </a:r>
              <a:r>
                <a:rPr kumimoji="1" lang="ko-KR" altLang="en-US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매핑할 수 있는 방법</a:t>
              </a:r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6845E9B-56E9-8DB9-BAA4-C3B46133B04D}"/>
                </a:ext>
              </a:extLst>
            </p:cNvPr>
            <p:cNvSpPr/>
            <p:nvPr/>
          </p:nvSpPr>
          <p:spPr>
            <a:xfrm>
              <a:off x="2951578" y="3989357"/>
              <a:ext cx="1333040" cy="80734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dirty="0"/>
                <a:t>Objective</a:t>
              </a:r>
              <a:endParaRPr kumimoji="1"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104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0F54809-D650-C4DF-7EE4-F44E0B48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B775852-1155-B97D-EF57-DFE65159CA2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52188EA-7BD3-DCFA-B87B-7B4B0226AF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0522869-B24F-128B-864B-4D9C926DB2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ABA7F94-F950-BFBF-393C-32373EB2CCEC}"/>
              </a:ext>
            </a:extLst>
          </p:cNvPr>
          <p:cNvSpPr txBox="1"/>
          <p:nvPr/>
        </p:nvSpPr>
        <p:spPr>
          <a:xfrm>
            <a:off x="2044168" y="2325544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72012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500</Words>
  <Application>Microsoft Macintosh PowerPoint</Application>
  <PresentationFormat>화면 슬라이드 쇼(16:9)</PresentationFormat>
  <Paragraphs>77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NanumGothic</vt:lpstr>
      <vt:lpstr>Gmarket Sans Light</vt:lpstr>
      <vt:lpstr>NanumGothic ExtraBold</vt:lpstr>
      <vt:lpstr>Pretendard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신승현</cp:lastModifiedBy>
  <cp:revision>5</cp:revision>
  <dcterms:modified xsi:type="dcterms:W3CDTF">2025-11-25T06:27:44Z</dcterms:modified>
</cp:coreProperties>
</file>