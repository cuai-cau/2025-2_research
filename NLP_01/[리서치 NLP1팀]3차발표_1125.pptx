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5" r:id="rId14"/>
    <p:sldId id="284" r:id="rId15"/>
    <p:sldId id="274" r:id="rId16"/>
  </p:sldIdLst>
  <p:sldSz cx="9144000" cy="5143500" type="screen16x9"/>
  <p:notesSz cx="6858000" cy="9144000"/>
  <p:embeddedFontLst>
    <p:embeddedFont>
      <p:font typeface="Pretendard" panose="02000503000000020004" pitchFamily="2" charset="-127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CE0"/>
    <a:srgbClr val="A1ADCB"/>
    <a:srgbClr val="19264A"/>
    <a:srgbClr val="43568B"/>
    <a:srgbClr val="6A738C"/>
    <a:srgbClr val="212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84" autoAdjust="0"/>
    <p:restoredTop sz="94793"/>
  </p:normalViewPr>
  <p:slideViewPr>
    <p:cSldViewPr snapToGrid="0">
      <p:cViewPr>
        <p:scale>
          <a:sx n="100" d="100"/>
          <a:sy n="100" d="100"/>
        </p:scale>
        <p:origin x="672" y="12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58DDACE-236A-3687-E7BF-D320D9D36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22BFEF6F-3543-AEFB-DD05-A4D243F4F4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8E84DD28-FAF6-7EC0-0DC3-A1122F8AEF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3174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799AA74-04C2-B7AF-0540-5A85C94F0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8BA2C62D-0C71-A423-2279-D386964B16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3D5EF0EE-A6D9-813B-E938-590F7497B0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8509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61FD0331-912F-A565-603F-F13B67704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366FE1F9-3F06-FEF4-8837-A119FD1C09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9641923E-1930-B854-8F35-B70B64899E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0423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A7C15AC-DDE8-9744-7345-4FD02683C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6062355A-9537-C276-C7F0-F71807C95C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5DAB0A3C-3357-F1DE-A1F3-8C72B2BD8E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6156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CE78446F-941B-99C1-6FAF-EF07C9F94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DC83CAA8-EFCC-96B0-9262-4229C09E35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CD682D7C-02A5-2465-97F2-BD0CD600F6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51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CC37CB60-AD69-43CF-64D4-01E351FE8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89506056-ED0F-0773-20EA-0901443329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8F83F237-4A38-2B58-8DB6-AA5E3E3B10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88131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E565ACF0-B3D2-5547-1143-B75671718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8E99B530-BE7D-D2E8-A1B2-A558D0181A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65100610-2A14-209C-9615-5F109C1AB4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4475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B38495DF-A8FD-0C0F-BAFC-EA792FD82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0A8373EF-127A-4905-02AE-7B0267C652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A040A8F5-7C72-08C4-16D1-CE3BC2E7B7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36641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5BDD606-6ECB-4A15-9AF0-4DCCD8A86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F35F97B9-D7FE-9F97-E689-8BC9CE8E6B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9467088D-84C1-EBDE-075D-81E61DD4A1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28145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A5AB9F6-19F5-2520-9998-21D5F17D5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CB93CA92-C916-2EB4-F2A7-A8CDAC65AA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3FD10084-8F29-3DF3-5D19-9585169F72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9898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DE2407F5-6C68-A41A-AC13-EFCE21CD3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C899BBA3-4038-CB05-30FA-3865622916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EF701FA6-0180-6E10-DA82-DEC3533F88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75240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3DFFD06-A972-58C8-A0E5-42AE6054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6F2D4FC1-DBDE-335C-566D-7D50AD2929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2B84C480-C4A0-D5D8-9E6F-64987B661D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270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T</a:t>
            </a:r>
            <a:endParaRPr dirty="0"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568745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CUAI </a:t>
            </a:r>
            <a:r>
              <a:rPr lang="ko-KR" altLang="en-US" sz="25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리서치</a:t>
            </a:r>
            <a:r>
              <a:rPr lang="en-US" altLang="ko-KR" sz="25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NLP1</a:t>
            </a:r>
            <a:r>
              <a:rPr lang="ko-KR" altLang="en-US" sz="25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최종 발표</a:t>
            </a:r>
            <a:endParaRPr sz="2500" b="1"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</a:t>
            </a:r>
            <a:r>
              <a:rPr lang="en-US" altLang="ko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en-US" altLang="ko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r>
              <a:rPr lang="ko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en-US" altLang="ko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</a:t>
            </a:r>
            <a:endParaRPr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발표자 : </a:t>
            </a:r>
            <a:r>
              <a:rPr lang="ko-KR" altLang="en-US" sz="1100" dirty="0" err="1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양희원</a:t>
            </a:r>
            <a:endParaRPr sz="1100"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목차</a:t>
            </a:r>
            <a:endParaRPr sz="2000" b="1"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563710" y="1055550"/>
            <a:ext cx="7251312" cy="313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t" anchorCtr="0">
            <a:spAutoFit/>
          </a:bodyPr>
          <a:lstStyle/>
          <a:p>
            <a:pPr lvl="0"/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연구 배경</a:t>
            </a:r>
          </a:p>
          <a:p>
            <a:pPr lvl="0"/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•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기존 </a:t>
            </a:r>
            <a:r>
              <a:rPr lang="en" altLang="ko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RAG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한계</a:t>
            </a:r>
          </a:p>
          <a:p>
            <a:pPr lvl="0"/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•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  <a:p>
            <a:pPr lvl="0"/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0"/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</a:t>
            </a:r>
            <a:r>
              <a:rPr lang="en" altLang="ko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HVDR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프레임워크</a:t>
            </a:r>
          </a:p>
          <a:p>
            <a:pPr lvl="0"/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•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아이디어</a:t>
            </a:r>
          </a:p>
          <a:p>
            <a:pPr lvl="0"/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•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수학적 기초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MDP)</a:t>
            </a:r>
          </a:p>
          <a:p>
            <a:pPr lvl="0"/>
            <a:r>
              <a:rPr lang="en" altLang="ko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•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시스템 아키텍처</a:t>
            </a:r>
          </a:p>
          <a:p>
            <a:pPr lvl="0"/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0"/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연구 방법론</a:t>
            </a:r>
          </a:p>
          <a:p>
            <a:pPr lvl="0"/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•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강화학습 훈련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MAPPO)</a:t>
            </a:r>
          </a:p>
          <a:p>
            <a:pPr lvl="0"/>
            <a:r>
              <a:rPr lang="en" altLang="ko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•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데이터셋 선택 전략</a:t>
            </a:r>
          </a:p>
          <a:p>
            <a:pPr lvl="0"/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진행 현황</a:t>
            </a:r>
          </a:p>
          <a:p>
            <a:pPr lvl="0"/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• </a:t>
            </a:r>
            <a:r>
              <a:rPr lang="en" altLang="ko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Phase 1: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가설 검증 결과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완료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lvl="0"/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• </a:t>
            </a:r>
            <a:r>
              <a:rPr lang="en" altLang="ko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Phase 2: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환경 구축 현황</a:t>
            </a:r>
          </a:p>
          <a:p>
            <a:pPr lvl="0"/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•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데이터셋 탐색</a:t>
            </a:r>
          </a:p>
          <a:p>
            <a:pPr lvl="0"/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0"/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연구 계획</a:t>
            </a:r>
          </a:p>
          <a:p>
            <a:pPr lvl="0"/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•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연구 질문 및 가설</a:t>
            </a:r>
          </a:p>
          <a:p>
            <a:pPr lvl="0"/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•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향후 일정</a:t>
            </a:r>
          </a:p>
          <a:p>
            <a:pPr lvl="0"/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0"/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기대 효과 및 결론</a:t>
            </a:r>
            <a:endParaRPr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353975" y="211873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1.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 연구 배경 </a:t>
            </a: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- 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기존 </a:t>
            </a:r>
            <a:r>
              <a:rPr lang="en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RAG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의 한계</a:t>
            </a:r>
            <a:endParaRPr sz="2000" b="1"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anumGothic ExtraBold"/>
            </a:endParaRPr>
          </a:p>
        </p:txBody>
      </p:sp>
      <p:sp>
        <p:nvSpPr>
          <p:cNvPr id="3" name="Google Shape;67;p14">
            <a:extLst>
              <a:ext uri="{FF2B5EF4-FFF2-40B4-BE49-F238E27FC236}">
                <a16:creationId xmlns:a16="http://schemas.microsoft.com/office/drawing/2014/main" id="{6FEE0F91-383C-2F60-3958-CB309768F5A2}"/>
              </a:ext>
            </a:extLst>
          </p:cNvPr>
          <p:cNvSpPr txBox="1"/>
          <p:nvPr/>
        </p:nvSpPr>
        <p:spPr>
          <a:xfrm>
            <a:off x="1353963" y="1248326"/>
            <a:ext cx="4066471" cy="264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기본 </a:t>
            </a:r>
            <a:r>
              <a:rPr lang="en" altLang="ko-Kore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RAG 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시스템의 가정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모든 문서 </a:t>
            </a:r>
            <a:r>
              <a:rPr lang="ko-KR" altLang="en-US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청크의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사전 확률 </a:t>
            </a:r>
            <a:r>
              <a:rPr lang="en" altLang="ko-Kore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p(d) =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균일 분포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모든 정보는 동일하게 중요하다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</a:p>
          <a:p>
            <a:pPr>
              <a:lnSpc>
                <a:spcPct val="125000"/>
              </a:lnSpc>
            </a:pPr>
            <a:endParaRPr lang="en-US" altLang="ko-KR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25000"/>
              </a:lnSpc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이로 인한 한계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검색 정밀도 저하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복잡한 질의에 대한 추론 실패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비효율적인 문서 탐색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31793D-3E90-99AB-CB36-E5473BCC5274}"/>
              </a:ext>
            </a:extLst>
          </p:cNvPr>
          <p:cNvSpPr txBox="1"/>
          <p:nvPr/>
        </p:nvSpPr>
        <p:spPr>
          <a:xfrm>
            <a:off x="5657404" y="1917725"/>
            <a:ext cx="3486596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기존 접근법의 시도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" altLang="ko-Kore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HRAG: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계층 구조 활용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" altLang="ko-Kore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GraphRAG</a:t>
            </a:r>
            <a:r>
              <a:rPr lang="en" altLang="ko-Kore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지식 그래프 활용</a:t>
            </a:r>
          </a:p>
          <a:p>
            <a:pPr>
              <a:lnSpc>
                <a:spcPct val="125000"/>
              </a:lnSpc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정적 구조 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 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규칙 기반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 한계 존재</a:t>
            </a:r>
          </a:p>
        </p:txBody>
      </p:sp>
      <p:pic>
        <p:nvPicPr>
          <p:cNvPr id="7" name="그래픽 6" descr="오른쪽 화살표 단색으로 채워진">
            <a:extLst>
              <a:ext uri="{FF2B5EF4-FFF2-40B4-BE49-F238E27FC236}">
                <a16:creationId xmlns:a16="http://schemas.microsoft.com/office/drawing/2014/main" id="{2965F93A-6B52-CB9B-2D61-01D6F2D65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11455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C80B20D8-6A20-B09A-0866-630A588ED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D4E12733-F4AA-1E9C-7651-6CCCE3154239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8CB618EC-7A79-3E96-AF95-14405708898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A5C21B73-5850-F194-8184-C15B41631A6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D028593-C4D4-2493-BD7A-1AA81C241769}"/>
              </a:ext>
            </a:extLst>
          </p:cNvPr>
          <p:cNvSpPr txBox="1"/>
          <p:nvPr/>
        </p:nvSpPr>
        <p:spPr>
          <a:xfrm>
            <a:off x="1353975" y="211873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2.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 </a:t>
            </a:r>
            <a:r>
              <a:rPr lang="en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HVDR 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프레임워크 </a:t>
            </a: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: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 핵심 아이디어</a:t>
            </a:r>
            <a:endParaRPr sz="2000" b="1"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anumGothic ExtraBold"/>
            </a:endParaRPr>
          </a:p>
        </p:txBody>
      </p:sp>
      <p:sp>
        <p:nvSpPr>
          <p:cNvPr id="3" name="Google Shape;67;p14">
            <a:extLst>
              <a:ext uri="{FF2B5EF4-FFF2-40B4-BE49-F238E27FC236}">
                <a16:creationId xmlns:a16="http://schemas.microsoft.com/office/drawing/2014/main" id="{57C434FD-E0D2-E93A-2434-6FC3F2B62EDD}"/>
              </a:ext>
            </a:extLst>
          </p:cNvPr>
          <p:cNvSpPr txBox="1"/>
          <p:nvPr/>
        </p:nvSpPr>
        <p:spPr>
          <a:xfrm>
            <a:off x="1597610" y="958273"/>
            <a:ext cx="3240359" cy="357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질의 입력</a:t>
            </a:r>
          </a:p>
          <a:p>
            <a:pPr algn="ctr">
              <a:lnSpc>
                <a:spcPct val="125000"/>
              </a:lnSpc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↓</a:t>
            </a:r>
          </a:p>
          <a:p>
            <a:pPr algn="ctr">
              <a:lnSpc>
                <a:spcPct val="125000"/>
              </a:lnSpc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[1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 </a:t>
            </a:r>
            <a:r>
              <a:rPr lang="en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Planning: </a:t>
            </a:r>
            <a:r>
              <a:rPr lang="en" altLang="ko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V_plan</a:t>
            </a:r>
            <a:endParaRPr lang="en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25000"/>
              </a:lnSpc>
            </a:pPr>
            <a:r>
              <a:rPr lang="en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어디를 찾을 것인가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?"</a:t>
            </a:r>
          </a:p>
          <a:p>
            <a:pPr algn="ctr">
              <a:lnSpc>
                <a:spcPct val="125000"/>
              </a:lnSpc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최적 도메인 선택</a:t>
            </a:r>
          </a:p>
          <a:p>
            <a:pPr algn="ctr">
              <a:lnSpc>
                <a:spcPct val="125000"/>
              </a:lnSpc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↓</a:t>
            </a:r>
          </a:p>
          <a:p>
            <a:pPr algn="ctr">
              <a:lnSpc>
                <a:spcPct val="125000"/>
              </a:lnSpc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[2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 </a:t>
            </a:r>
            <a:r>
              <a:rPr lang="en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Searching: </a:t>
            </a:r>
            <a:r>
              <a:rPr lang="en" altLang="ko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V_search</a:t>
            </a:r>
            <a:endParaRPr lang="en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25000"/>
              </a:lnSpc>
            </a:pPr>
            <a:r>
              <a:rPr lang="en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무엇을 중요하게 볼 것인가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?"</a:t>
            </a:r>
          </a:p>
          <a:p>
            <a:pPr algn="ctr">
              <a:lnSpc>
                <a:spcPct val="125000"/>
              </a:lnSpc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최적 문서 조합 선택</a:t>
            </a:r>
          </a:p>
          <a:p>
            <a:pPr algn="ctr">
              <a:lnSpc>
                <a:spcPct val="125000"/>
              </a:lnSpc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↓</a:t>
            </a:r>
          </a:p>
          <a:p>
            <a:pPr algn="ctr">
              <a:lnSpc>
                <a:spcPct val="125000"/>
              </a:lnSpc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답변 생성</a:t>
            </a:r>
          </a:p>
        </p:txBody>
      </p:sp>
      <p:sp>
        <p:nvSpPr>
          <p:cNvPr id="2" name="Google Shape;67;p14">
            <a:extLst>
              <a:ext uri="{FF2B5EF4-FFF2-40B4-BE49-F238E27FC236}">
                <a16:creationId xmlns:a16="http://schemas.microsoft.com/office/drawing/2014/main" id="{8FB10842-F146-C605-FB96-F0C0D840AC60}"/>
              </a:ext>
            </a:extLst>
          </p:cNvPr>
          <p:cNvSpPr txBox="1"/>
          <p:nvPr/>
        </p:nvSpPr>
        <p:spPr>
          <a:xfrm>
            <a:off x="5730766" y="2158601"/>
            <a:ext cx="3240359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spAutoFit/>
          </a:bodyPr>
          <a:lstStyle/>
          <a:p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</a:t>
            </a:r>
            <a:r>
              <a:rPr lang="ko-KR" altLang="en-US" sz="16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차별점</a:t>
            </a:r>
            <a:endParaRPr lang="ko-KR" altLang="en-US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ore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학습 가능한 가치 함수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규칙 ✗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r>
              <a:rPr lang="en-US" altLang="ko-Kore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동적 의사결정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정적 구조 ✗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r>
              <a:rPr lang="en-US" altLang="ko-Kore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종단간 최적화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단계별 최적화 ✗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pic>
        <p:nvPicPr>
          <p:cNvPr id="10" name="그래픽 9" descr="갈매기형 화살표 윤곽선">
            <a:extLst>
              <a:ext uri="{FF2B5EF4-FFF2-40B4-BE49-F238E27FC236}">
                <a16:creationId xmlns:a16="http://schemas.microsoft.com/office/drawing/2014/main" id="{B52A0BA6-D963-4F0D-7DA9-C88A98CE8C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37969" y="2333305"/>
            <a:ext cx="725928" cy="72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658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AB5F7F87-AD91-8917-4325-D10CEE67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E3DD32A2-4148-455F-5EE7-2D46473E062B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DF8B43B2-356F-4123-5281-6C4D68B1CFF3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AF79E090-A92B-3D7B-B1D4-B3CD33CC108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CCA49AC2-0825-F2D0-9131-6C531E493CCB}"/>
              </a:ext>
            </a:extLst>
          </p:cNvPr>
          <p:cNvSpPr txBox="1"/>
          <p:nvPr/>
        </p:nvSpPr>
        <p:spPr>
          <a:xfrm>
            <a:off x="1353975" y="211873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2. HVDR 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프레임워크 </a:t>
            </a: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: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 수학적 기초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A19C802-D6FF-54A4-59C8-CD8D5AB80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615621"/>
              </p:ext>
            </p:extLst>
          </p:nvPr>
        </p:nvGraphicFramePr>
        <p:xfrm>
          <a:off x="1646725" y="1362760"/>
          <a:ext cx="6334117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0740">
                  <a:extLst>
                    <a:ext uri="{9D8B030D-6E8A-4147-A177-3AD203B41FA5}">
                      <a16:colId xmlns:a16="http://schemas.microsoft.com/office/drawing/2014/main" val="69570577"/>
                    </a:ext>
                  </a:extLst>
                </a:gridCol>
                <a:gridCol w="2563066">
                  <a:extLst>
                    <a:ext uri="{9D8B030D-6E8A-4147-A177-3AD203B41FA5}">
                      <a16:colId xmlns:a16="http://schemas.microsoft.com/office/drawing/2014/main" val="728194386"/>
                    </a:ext>
                  </a:extLst>
                </a:gridCol>
                <a:gridCol w="2530311">
                  <a:extLst>
                    <a:ext uri="{9D8B030D-6E8A-4147-A177-3AD203B41FA5}">
                      <a16:colId xmlns:a16="http://schemas.microsoft.com/office/drawing/2014/main" val="3248998576"/>
                    </a:ext>
                  </a:extLst>
                </a:gridCol>
              </a:tblGrid>
              <a:tr h="240413">
                <a:tc>
                  <a:txBody>
                    <a:bodyPr/>
                    <a:lstStyle/>
                    <a:p>
                      <a:r>
                        <a:rPr lang="ko-Kore-KR" altLang="en-US" dirty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구성</a:t>
                      </a:r>
                      <a:r>
                        <a:rPr lang="ko-KR" altLang="en-US" dirty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 요소</a:t>
                      </a:r>
                      <a:endParaRPr lang="ko-Kore-KR" altLang="en-US" dirty="0"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dirty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Planning </a:t>
                      </a:r>
                      <a:r>
                        <a:rPr lang="ko-KR" altLang="en-US" dirty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단계</a:t>
                      </a:r>
                      <a:endParaRPr lang="ko-Kore-KR" altLang="en-US" dirty="0"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dirty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Searching</a:t>
                      </a:r>
                      <a:r>
                        <a:rPr lang="ko-KR" altLang="en-US" dirty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 단계</a:t>
                      </a:r>
                      <a:endParaRPr lang="ko-Kore-KR" altLang="en-US" dirty="0"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833659"/>
                  </a:ext>
                </a:extLst>
              </a:tr>
              <a:tr h="240413">
                <a:tc>
                  <a:txBody>
                    <a:bodyPr/>
                    <a:lstStyle/>
                    <a:p>
                      <a:r>
                        <a:rPr lang="en-US" altLang="ko-Kore-KR" dirty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State</a:t>
                      </a:r>
                      <a:endParaRPr lang="ko-Kore-KR" altLang="en-US" dirty="0"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ko-Kore-KR" dirty="0" err="1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s_plan</a:t>
                      </a:r>
                      <a:r>
                        <a:rPr lang="en" altLang="ko-Kore-KR" dirty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 = [</a:t>
                      </a:r>
                      <a:r>
                        <a:rPr lang="en" altLang="ko-Kore-KR" dirty="0" err="1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q_emb</a:t>
                      </a:r>
                      <a:r>
                        <a:rPr lang="en" altLang="ko-Kore-KR" dirty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, meta(q)]</a:t>
                      </a:r>
                      <a:endParaRPr lang="ko-Kore-KR" altLang="en-US" dirty="0"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ko-Kore-KR" dirty="0" err="1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s_search</a:t>
                      </a:r>
                      <a:r>
                        <a:rPr lang="en" altLang="ko-Kore-KR" dirty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 = [</a:t>
                      </a:r>
                      <a:r>
                        <a:rPr lang="en" altLang="ko-Kore-KR" dirty="0" err="1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q_emb</a:t>
                      </a:r>
                      <a:r>
                        <a:rPr lang="en" altLang="ko-Kore-KR" dirty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, {</a:t>
                      </a:r>
                      <a:r>
                        <a:rPr lang="en" altLang="ko-Kore-KR" dirty="0" err="1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d_i</a:t>
                      </a:r>
                      <a:r>
                        <a:rPr lang="en" altLang="ko-Kore-KR" dirty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}]</a:t>
                      </a:r>
                      <a:endParaRPr lang="ko-Kore-KR" altLang="en-US" dirty="0"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641686"/>
                  </a:ext>
                </a:extLst>
              </a:tr>
              <a:tr h="240413">
                <a:tc>
                  <a:txBody>
                    <a:bodyPr/>
                    <a:lstStyle/>
                    <a:p>
                      <a:r>
                        <a:rPr lang="en-US" altLang="ko-Kore-KR" dirty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Action</a:t>
                      </a:r>
                      <a:endParaRPr lang="ko-Kore-KR" altLang="en-US" dirty="0"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도메인 선택</a:t>
                      </a:r>
                      <a:endParaRPr lang="ko-Kore-KR" altLang="en-US" dirty="0"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문서 집합 선택</a:t>
                      </a:r>
                      <a:endParaRPr lang="ko-Kore-KR" altLang="en-US" dirty="0"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961133"/>
                  </a:ext>
                </a:extLst>
              </a:tr>
              <a:tr h="240413">
                <a:tc>
                  <a:txBody>
                    <a:bodyPr/>
                    <a:lstStyle/>
                    <a:p>
                      <a:r>
                        <a:rPr lang="en-US" altLang="ko-Kore-KR" dirty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Reward</a:t>
                      </a:r>
                      <a:endParaRPr lang="ko-Kore-KR" altLang="en-US" dirty="0"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(</a:t>
                      </a:r>
                      <a:r>
                        <a:rPr lang="ko-KR" altLang="en-US" dirty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에피소드 종료 시</a:t>
                      </a:r>
                      <a:r>
                        <a:rPr lang="en-US" altLang="ko-KR" dirty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)</a:t>
                      </a:r>
                      <a:endParaRPr lang="ko-Kore-KR" altLang="en-US" dirty="0"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RAGAS </a:t>
                      </a:r>
                      <a:r>
                        <a:rPr lang="ko-KR" altLang="en-US" dirty="0"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기반 평가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490324"/>
                  </a:ext>
                </a:extLst>
              </a:tr>
            </a:tbl>
          </a:graphicData>
        </a:graphic>
      </p:graphicFrame>
      <p:sp>
        <p:nvSpPr>
          <p:cNvPr id="5" name="Google Shape;67;p14">
            <a:extLst>
              <a:ext uri="{FF2B5EF4-FFF2-40B4-BE49-F238E27FC236}">
                <a16:creationId xmlns:a16="http://schemas.microsoft.com/office/drawing/2014/main" id="{FEB0E029-3A25-879E-EFD4-CEB45B3F77C4}"/>
              </a:ext>
            </a:extLst>
          </p:cNvPr>
          <p:cNvSpPr txBox="1"/>
          <p:nvPr/>
        </p:nvSpPr>
        <p:spPr>
          <a:xfrm>
            <a:off x="1573425" y="931903"/>
            <a:ext cx="3240359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spAutoFit/>
          </a:bodyPr>
          <a:lstStyle/>
          <a:p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 </a:t>
            </a:r>
            <a:r>
              <a:rPr lang="ko-KR" altLang="en-US" sz="16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마르코프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결정 과정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Google Shape;67;p14">
            <a:extLst>
              <a:ext uri="{FF2B5EF4-FFF2-40B4-BE49-F238E27FC236}">
                <a16:creationId xmlns:a16="http://schemas.microsoft.com/office/drawing/2014/main" id="{433F4D9A-0435-2A09-81CF-7CF1BACBDDFE}"/>
              </a:ext>
            </a:extLst>
          </p:cNvPr>
          <p:cNvSpPr txBox="1"/>
          <p:nvPr/>
        </p:nvSpPr>
        <p:spPr>
          <a:xfrm>
            <a:off x="1573425" y="2878411"/>
            <a:ext cx="3240359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spAutoFit/>
          </a:bodyPr>
          <a:lstStyle/>
          <a:p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하이브리드 검색 점수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A8321D-EB68-8216-0E6A-76E4BF0B6B18}"/>
              </a:ext>
            </a:extLst>
          </p:cNvPr>
          <p:cNvSpPr txBox="1"/>
          <p:nvPr/>
        </p:nvSpPr>
        <p:spPr>
          <a:xfrm>
            <a:off x="1756978" y="3309268"/>
            <a:ext cx="4572000" cy="738664"/>
          </a:xfrm>
          <a:prstGeom prst="rect">
            <a:avLst/>
          </a:prstGeom>
          <a:solidFill>
            <a:srgbClr val="C5CCE0">
              <a:alpha val="29020"/>
            </a:srgbClr>
          </a:solidFill>
        </p:spPr>
        <p:txBody>
          <a:bodyPr wrap="square">
            <a:spAutoFit/>
          </a:bodyPr>
          <a:lstStyle/>
          <a:p>
            <a:r>
              <a:rPr lang="ko-Kore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s'(q, d) = α × semantic_sim(q, d) + (1-α) × p(d)</a:t>
            </a:r>
          </a:p>
          <a:p>
            <a:r>
              <a:rPr lang="ko-Kore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</a:t>
            </a:r>
            <a:r>
              <a:rPr lang="ko-Kore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↑                          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     </a:t>
            </a:r>
            <a:r>
              <a:rPr lang="ko-Kore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↑</a:t>
            </a:r>
          </a:p>
          <a:p>
            <a:r>
              <a:rPr lang="ko-Kore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</a:t>
            </a:r>
            <a:r>
              <a:rPr lang="ko-Kore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의미적 유사도             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</a:t>
            </a:r>
            <a:r>
              <a:rPr lang="ko-Kore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구조적 사전확률</a:t>
            </a:r>
          </a:p>
        </p:txBody>
      </p:sp>
    </p:spTree>
    <p:extLst>
      <p:ext uri="{BB962C8B-B14F-4D97-AF65-F5344CB8AC3E}">
        <p14:creationId xmlns:p14="http://schemas.microsoft.com/office/powerpoint/2010/main" val="514430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8CED8874-D1FF-C1D5-02D4-93971767A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C9B1628F-03C5-B121-CA0A-7D4054B11C5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46B3666A-36ED-CD62-012D-381318460DE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1E8F1F50-A1A1-E278-2869-41179D1AB41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61121FE-A824-B14D-6B60-95166E800218}"/>
              </a:ext>
            </a:extLst>
          </p:cNvPr>
          <p:cNvSpPr txBox="1"/>
          <p:nvPr/>
        </p:nvSpPr>
        <p:spPr>
          <a:xfrm>
            <a:off x="1353975" y="211873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2. HVDR 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프레임워크 </a:t>
            </a: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: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 아키텍처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58D1F3A-CE48-7394-158E-2268ADFCD6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6515" y="1055550"/>
            <a:ext cx="6000323" cy="326970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B4CFBDB-A92F-B843-B94B-73B770C0DE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6206" t="81464" r="1562" b="14849"/>
          <a:stretch>
            <a:fillRect/>
          </a:stretch>
        </p:blipFill>
        <p:spPr>
          <a:xfrm rot="1221147">
            <a:off x="7689396" y="3977485"/>
            <a:ext cx="254071" cy="25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159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2383B2A5-9243-A67F-56E4-CE1D3827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73A90215-E3BB-F23F-1435-72254C0EA05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226E3EF1-BF7C-121E-507B-C2BB23FC442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3A63789A-8A26-5A38-774D-6BFA20443F0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FCEF7BC9-43B5-C6B4-BD12-6359999684E6}"/>
              </a:ext>
            </a:extLst>
          </p:cNvPr>
          <p:cNvSpPr txBox="1"/>
          <p:nvPr/>
        </p:nvSpPr>
        <p:spPr>
          <a:xfrm>
            <a:off x="1353975" y="211873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3.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 강화학습 훈련 </a:t>
            </a: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: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 </a:t>
            </a: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MAPPO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0EF3E8-6BBE-98B8-72FE-E660E32293FE}"/>
              </a:ext>
            </a:extLst>
          </p:cNvPr>
          <p:cNvSpPr txBox="1"/>
          <p:nvPr/>
        </p:nvSpPr>
        <p:spPr>
          <a:xfrm>
            <a:off x="1707777" y="796908"/>
            <a:ext cx="5513294" cy="2036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다중 에이전트 강화학습</a:t>
            </a:r>
          </a:p>
          <a:p>
            <a:pPr>
              <a:lnSpc>
                <a:spcPct val="130000"/>
              </a:lnSpc>
            </a:pP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알고리즘 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en" altLang="ko-Kore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MAPPO (Multi-Agent PPO)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" altLang="ko-Kore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V_plan</a:t>
            </a:r>
            <a:r>
              <a:rPr lang="en" altLang="ko-Kore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에이전트 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 </a:t>
            </a:r>
            <a:r>
              <a:rPr lang="en" altLang="ko-Kore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V_search</a:t>
            </a:r>
            <a:r>
              <a:rPr lang="en" altLang="ko-Kore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에이전트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공유 보상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독립 최적화</a:t>
            </a:r>
            <a:endParaRPr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훈련 프로세스</a:t>
            </a:r>
          </a:p>
          <a:p>
            <a:pPr lvl="8">
              <a:lnSpc>
                <a:spcPct val="130000"/>
              </a:lnSpc>
            </a:pPr>
            <a:endParaRPr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9C360A-3046-255B-ECB3-9EB6E51706E7}"/>
              </a:ext>
            </a:extLst>
          </p:cNvPr>
          <p:cNvSpPr txBox="1"/>
          <p:nvPr/>
        </p:nvSpPr>
        <p:spPr>
          <a:xfrm>
            <a:off x="2989426" y="2250787"/>
            <a:ext cx="4572000" cy="2462213"/>
          </a:xfrm>
          <a:prstGeom prst="rect">
            <a:avLst/>
          </a:prstGeom>
          <a:solidFill>
            <a:srgbClr val="C5CCE0">
              <a:alpha val="29020"/>
            </a:srgb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궤적 수집</a:t>
            </a:r>
          </a:p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현재 정책으로 전체 파이프라인 실행</a:t>
            </a:r>
          </a:p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도메인 선택 → 문서 선택 → 답변 생성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endParaRPr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보상 계산</a:t>
            </a:r>
          </a:p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" altLang="ko-Kore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RAGAS = </a:t>
            </a:r>
            <a:r>
              <a:rPr lang="el-GR" altLang="ko-Kore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λ₁·</a:t>
            </a:r>
            <a:r>
              <a:rPr lang="en" altLang="ko-Kore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Faithfulness + </a:t>
            </a:r>
            <a:r>
              <a:rPr lang="el-GR" altLang="ko-Kore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λ₂·</a:t>
            </a:r>
            <a:r>
              <a:rPr lang="en" altLang="ko-Kore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Completeness </a:t>
            </a:r>
          </a:p>
          <a:p>
            <a:r>
              <a:rPr lang="en" altLang="ko-Kore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+ </a:t>
            </a:r>
            <a:r>
              <a:rPr lang="el-GR" altLang="ko-Kore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λ₃·</a:t>
            </a:r>
            <a:r>
              <a:rPr lang="en" altLang="ko-Kore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Relevance</a:t>
            </a:r>
          </a:p>
          <a:p>
            <a:endParaRPr lang="en" altLang="ko-Kore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" altLang="ko-Kore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정책 업데이트</a:t>
            </a:r>
          </a:p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en" altLang="ko-Kore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Actor: PPO clipped objective</a:t>
            </a:r>
          </a:p>
          <a:p>
            <a:r>
              <a:rPr lang="en" altLang="ko-Kore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- Critic: MSE loss</a:t>
            </a:r>
            <a:endParaRPr lang="ko-Kore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3608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CA461E84-DC61-028B-B5A3-D11AE509D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E3AF7D47-09AD-956D-D7A9-A42A057CEF4B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260C76B2-FB62-210C-E337-82318D8F22A1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39C2074B-FBF2-B84F-976C-6914A5D70C4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A9631B0-2474-9A54-C81B-9465BBBAF152}"/>
              </a:ext>
            </a:extLst>
          </p:cNvPr>
          <p:cNvSpPr txBox="1"/>
          <p:nvPr/>
        </p:nvSpPr>
        <p:spPr>
          <a:xfrm>
            <a:off x="1353975" y="211873"/>
            <a:ext cx="49794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4.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 진행 현황 </a:t>
            </a: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: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 </a:t>
            </a:r>
            <a:r>
              <a:rPr lang="en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Phase 1</a:t>
            </a: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-</a:t>
            </a:r>
            <a:r>
              <a:rPr lang="en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 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가설 검증 결과 </a:t>
            </a: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(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완료</a:t>
            </a: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)</a:t>
            </a:r>
          </a:p>
          <a:p>
            <a:pPr>
              <a:lnSpc>
                <a:spcPct val="115000"/>
              </a:lnSpc>
            </a:pPr>
            <a:endParaRPr lang="en-US" altLang="ko-KR" sz="2000" b="1"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anumGothic 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A95EF4-0E77-4812-3F4C-AA45A1C8448F}"/>
              </a:ext>
            </a:extLst>
          </p:cNvPr>
          <p:cNvSpPr txBox="1"/>
          <p:nvPr/>
        </p:nvSpPr>
        <p:spPr>
          <a:xfrm>
            <a:off x="1707777" y="984568"/>
            <a:ext cx="5513294" cy="2316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검증 목표 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가치 함수가 최종 보상을 학습할 수 있는가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?”</a:t>
            </a:r>
            <a:endParaRPr lang="en-US" altLang="ko-KR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실험 설계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미니어처 </a:t>
            </a:r>
            <a:r>
              <a:rPr lang="en" altLang="ko-Kore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RAG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환경 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도메인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100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쿼리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" altLang="ko-Kore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Oracle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보상 함수 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정답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채점기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지도학습으로 가치 함수 훈련</a:t>
            </a:r>
          </a:p>
          <a:p>
            <a:pPr>
              <a:lnSpc>
                <a:spcPct val="130000"/>
              </a:lnSpc>
            </a:pP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가치 함수 학습 가능성 입증</a:t>
            </a:r>
            <a:endParaRPr lang="ko-KR" altLang="en-US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8">
              <a:lnSpc>
                <a:spcPct val="130000"/>
              </a:lnSpc>
            </a:pPr>
            <a:endParaRPr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4FB5F14-E13D-9F31-F3F6-B591DB5DB3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901108"/>
              </p:ext>
            </p:extLst>
          </p:nvPr>
        </p:nvGraphicFramePr>
        <p:xfrm>
          <a:off x="1915666" y="3069937"/>
          <a:ext cx="5520557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2957">
                  <a:extLst>
                    <a:ext uri="{9D8B030D-6E8A-4147-A177-3AD203B41FA5}">
                      <a16:colId xmlns:a16="http://schemas.microsoft.com/office/drawing/2014/main" val="69570577"/>
                    </a:ext>
                  </a:extLst>
                </a:gridCol>
                <a:gridCol w="1940849">
                  <a:extLst>
                    <a:ext uri="{9D8B030D-6E8A-4147-A177-3AD203B41FA5}">
                      <a16:colId xmlns:a16="http://schemas.microsoft.com/office/drawing/2014/main" val="728194386"/>
                    </a:ext>
                  </a:extLst>
                </a:gridCol>
                <a:gridCol w="1716751">
                  <a:extLst>
                    <a:ext uri="{9D8B030D-6E8A-4147-A177-3AD203B41FA5}">
                      <a16:colId xmlns:a16="http://schemas.microsoft.com/office/drawing/2014/main" val="3248998576"/>
                    </a:ext>
                  </a:extLst>
                </a:gridCol>
              </a:tblGrid>
              <a:tr h="240413"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정책</a:t>
                      </a:r>
                      <a:endParaRPr lang="ko-Kore-KR" altLang="en-US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평균 보상</a:t>
                      </a:r>
                      <a:endParaRPr lang="ko-Kore-KR" altLang="en-US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성능</a:t>
                      </a:r>
                      <a:endParaRPr lang="ko-Kore-KR" altLang="en-US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833659"/>
                  </a:ext>
                </a:extLst>
              </a:tr>
              <a:tr h="240413">
                <a:tc>
                  <a:txBody>
                    <a:bodyPr/>
                    <a:lstStyle/>
                    <a:p>
                      <a:r>
                        <a:rPr lang="en-US" altLang="ko-Kore-KR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Baseline</a:t>
                      </a:r>
                      <a:endParaRPr lang="ko-Kore-KR" altLang="en-US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0.34</a:t>
                      </a:r>
                      <a:endParaRPr lang="ko-Kore-KR" altLang="en-US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1.0×</a:t>
                      </a:r>
                      <a:endParaRPr lang="ko-Kore-KR" altLang="en-US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641686"/>
                  </a:ext>
                </a:extLst>
              </a:tr>
              <a:tr h="240413">
                <a:tc>
                  <a:txBody>
                    <a:bodyPr/>
                    <a:lstStyle/>
                    <a:p>
                      <a:r>
                        <a:rPr lang="en-US" altLang="ko-Kore-KR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Learned HVDR</a:t>
                      </a:r>
                      <a:endParaRPr lang="ko-Kore-KR" altLang="en-US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0.99</a:t>
                      </a:r>
                      <a:endParaRPr lang="ko-Kore-KR" altLang="en-US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ore-KR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2.9×</a:t>
                      </a:r>
                      <a:endParaRPr lang="ko-Kore-KR" altLang="en-US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9961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1697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7FF467FF-EF82-A12E-3935-65C3AE633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79136FA9-8921-CCC2-CB3C-65AC7EB0C7A7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E46EBE41-87C3-5AB0-A259-09B4A6AD928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6D06251F-7799-AD4F-E535-9FE4CD510A1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E9B0CBAC-6A46-4781-8663-0A6D46429E97}"/>
              </a:ext>
            </a:extLst>
          </p:cNvPr>
          <p:cNvSpPr txBox="1"/>
          <p:nvPr/>
        </p:nvSpPr>
        <p:spPr>
          <a:xfrm>
            <a:off x="1353975" y="211873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4.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 진행 현황 </a:t>
            </a: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:</a:t>
            </a:r>
            <a:r>
              <a:rPr lang="en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 Phase 2 - 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환경 구축</a:t>
            </a:r>
            <a:endParaRPr lang="en-US" altLang="ko-KR" sz="2000" b="1"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anumGothic 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74CD4F-6590-3082-F153-7E8F19822276}"/>
              </a:ext>
            </a:extLst>
          </p:cNvPr>
          <p:cNvSpPr txBox="1"/>
          <p:nvPr/>
        </p:nvSpPr>
        <p:spPr>
          <a:xfrm>
            <a:off x="1707777" y="862983"/>
            <a:ext cx="22299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ore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RAPTOR 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계층 트리 구축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A13074-C6D4-0717-5E88-2B4B07FF543A}"/>
              </a:ext>
            </a:extLst>
          </p:cNvPr>
          <p:cNvSpPr txBox="1"/>
          <p:nvPr/>
        </p:nvSpPr>
        <p:spPr>
          <a:xfrm>
            <a:off x="4045343" y="837641"/>
            <a:ext cx="4921813" cy="2031325"/>
          </a:xfrm>
          <a:prstGeom prst="rect">
            <a:avLst/>
          </a:prstGeom>
          <a:solidFill>
            <a:srgbClr val="C5CCE0">
              <a:alpha val="29020"/>
            </a:srgb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Level 3 (Root)          [1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요약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</a:t>
            </a:r>
          </a:p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↓</a:t>
            </a:r>
          </a:p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Level 2              [2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요약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</a:t>
            </a:r>
          </a:p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↓</a:t>
            </a:r>
          </a:p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Level 1           [5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요약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</a:t>
            </a:r>
          </a:p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↓</a:t>
            </a:r>
          </a:p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Level 0     [10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Leaf Chunks]</a:t>
            </a:r>
          </a:p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─────────────────────────────</a:t>
            </a:r>
          </a:p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노드</a:t>
            </a:r>
            <a:endParaRPr lang="ko-Kore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93EDB2-BFD6-BD01-5D61-8455A9715D94}"/>
              </a:ext>
            </a:extLst>
          </p:cNvPr>
          <p:cNvSpPr txBox="1"/>
          <p:nvPr/>
        </p:nvSpPr>
        <p:spPr>
          <a:xfrm>
            <a:off x="1707777" y="3261254"/>
            <a:ext cx="55132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구조적 사전 확률 </a:t>
            </a:r>
            <a:r>
              <a:rPr lang="en" altLang="ko-Kore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p(d) 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계산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7B9BAD-1F11-1E79-F9B8-5CF9610506FA}"/>
              </a:ext>
            </a:extLst>
          </p:cNvPr>
          <p:cNvSpPr txBox="1"/>
          <p:nvPr/>
        </p:nvSpPr>
        <p:spPr>
          <a:xfrm>
            <a:off x="4222188" y="3182103"/>
            <a:ext cx="4141883" cy="1600438"/>
          </a:xfrm>
          <a:prstGeom prst="rect">
            <a:avLst/>
          </a:prstGeom>
          <a:solidFill>
            <a:srgbClr val="C5CCE0">
              <a:alpha val="29020"/>
            </a:srgb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p(d) = 0.7 × (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깊이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최대깊이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+ 0.3 × log(1+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자식수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endParaRPr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</a:p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Level 0 (leaf):  p(d) ≈ 0.10</a:t>
            </a:r>
          </a:p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Level 1:         p(d) ≈ 0.45</a:t>
            </a:r>
          </a:p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Level 2:         p(d) ≈ 0.82</a:t>
            </a:r>
          </a:p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Level 3 (root):  p(d) ≈ 1.00</a:t>
            </a:r>
            <a:endParaRPr lang="ko-Kore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4762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A37B45A4-E66E-2374-2769-E82757099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545B5EAB-EC6E-357C-D267-D6944747B599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3D915305-930F-C227-A897-C13094A72F7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47CB9ECA-6E2F-49F6-A2B4-0EF47D216A2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B3905BCE-C704-9F72-AAC7-BD5366A2E39F}"/>
              </a:ext>
            </a:extLst>
          </p:cNvPr>
          <p:cNvSpPr txBox="1"/>
          <p:nvPr/>
        </p:nvSpPr>
        <p:spPr>
          <a:xfrm>
            <a:off x="1353975" y="211873"/>
            <a:ext cx="49794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4.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 진행 현황 </a:t>
            </a: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: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 데이터셋 탐색</a:t>
            </a:r>
            <a:endParaRPr lang="en-US" altLang="ko-KR" sz="2000" b="1"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anumGothic ExtraBold"/>
            </a:endParaRPr>
          </a:p>
          <a:p>
            <a:pPr>
              <a:lnSpc>
                <a:spcPct val="115000"/>
              </a:lnSpc>
            </a:pPr>
            <a:endParaRPr lang="en-US" altLang="ko-KR" sz="2000" b="1"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anumGothic 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5CA55B-C48F-E3B2-7D0B-E1B8A254367B}"/>
              </a:ext>
            </a:extLst>
          </p:cNvPr>
          <p:cNvSpPr txBox="1"/>
          <p:nvPr/>
        </p:nvSpPr>
        <p:spPr>
          <a:xfrm>
            <a:off x="1822502" y="747880"/>
            <a:ext cx="5513294" cy="2596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" altLang="ko-Kore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HVDR 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데이터셋 요구사항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계층 구조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엔티티 간 관계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" altLang="ko-Kore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Multi-hop reasoning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증거 문서 간 연결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30000"/>
              </a:lnSpc>
            </a:pP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후보</a:t>
            </a:r>
          </a:p>
          <a:p>
            <a:pPr lvl="8">
              <a:lnSpc>
                <a:spcPct val="130000"/>
              </a:lnSpc>
            </a:pPr>
            <a:endParaRPr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8E349BE-11F4-A4CE-DB94-0BEC84ADF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248959"/>
              </p:ext>
            </p:extLst>
          </p:nvPr>
        </p:nvGraphicFramePr>
        <p:xfrm>
          <a:off x="2552963" y="2702859"/>
          <a:ext cx="5237062" cy="20305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3872">
                  <a:extLst>
                    <a:ext uri="{9D8B030D-6E8A-4147-A177-3AD203B41FA5}">
                      <a16:colId xmlns:a16="http://schemas.microsoft.com/office/drawing/2014/main" val="3409676779"/>
                    </a:ext>
                  </a:extLst>
                </a:gridCol>
                <a:gridCol w="1836432">
                  <a:extLst>
                    <a:ext uri="{9D8B030D-6E8A-4147-A177-3AD203B41FA5}">
                      <a16:colId xmlns:a16="http://schemas.microsoft.com/office/drawing/2014/main" val="3278376020"/>
                    </a:ext>
                  </a:extLst>
                </a:gridCol>
                <a:gridCol w="2546758">
                  <a:extLst>
                    <a:ext uri="{9D8B030D-6E8A-4147-A177-3AD203B41FA5}">
                      <a16:colId xmlns:a16="http://schemas.microsoft.com/office/drawing/2014/main" val="224928342"/>
                    </a:ext>
                  </a:extLst>
                </a:gridCol>
              </a:tblGrid>
              <a:tr h="2610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카테고리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데이터셋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특징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39253094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법률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200" u="none" strike="noStrike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LLeQA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법전→조문 완벽 계층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03639896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법률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200" u="none" strike="noStrike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KoBLEX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한국어</a:t>
                      </a:r>
                      <a:r>
                        <a:rPr lang="en-US" altLang="ko-KR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en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multi-hop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0123957"/>
                  </a:ext>
                </a:extLst>
              </a:tr>
              <a:tr h="4373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범용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2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UDA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r>
                        <a:rPr lang="ko-KR" altLang="en-US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도메인</a:t>
                      </a:r>
                      <a:r>
                        <a:rPr lang="en-US" altLang="ko-KR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en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ablation </a:t>
                      </a:r>
                      <a:r>
                        <a:rPr lang="ko-KR" altLang="en-US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용이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67428689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범용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RAGBench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</a:t>
                      </a:r>
                      <a:r>
                        <a:rPr lang="ko-KR" altLang="en-US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 예제</a:t>
                      </a:r>
                      <a:r>
                        <a:rPr lang="en-US" altLang="ko-KR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5</a:t>
                      </a:r>
                      <a:r>
                        <a:rPr lang="ko-KR" altLang="en-US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도메인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8271685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추론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HotpotQA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Evidence chain </a:t>
                      </a:r>
                      <a:r>
                        <a:rPr lang="ko-KR" altLang="en-US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제공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2593681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추론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2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MuSiQue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200" u="none" strike="noStrike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GraphRAG</a:t>
                      </a:r>
                      <a:r>
                        <a:rPr lang="en" sz="12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2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벤치마크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26607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2299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135B331C-9E58-7C61-54EB-EA714D92B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3496C6F4-25BA-42AF-B9CE-3DBB302268B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9D31400D-131D-AD83-18D0-66E3398D363E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4C6387E9-F98B-2A42-33E3-FF4FD4BA015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4DC0AB76-665A-E66C-6EB1-66A50C520C5A}"/>
              </a:ext>
            </a:extLst>
          </p:cNvPr>
          <p:cNvSpPr txBox="1"/>
          <p:nvPr/>
        </p:nvSpPr>
        <p:spPr>
          <a:xfrm>
            <a:off x="1353975" y="211873"/>
            <a:ext cx="49794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5.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 연구 계획 </a:t>
            </a: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: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 연구 질문 및 가설</a:t>
            </a:r>
            <a:endParaRPr lang="en-US" altLang="ko-KR" sz="2000" b="1"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anumGothic ExtraBold"/>
            </a:endParaRPr>
          </a:p>
          <a:p>
            <a:pPr>
              <a:lnSpc>
                <a:spcPct val="115000"/>
              </a:lnSpc>
            </a:pPr>
            <a:endParaRPr lang="en-US" altLang="ko-KR" sz="2000" b="1"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anumGothic 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59070E-6D99-64DD-FB42-1E107CC8603A}"/>
              </a:ext>
            </a:extLst>
          </p:cNvPr>
          <p:cNvSpPr txBox="1"/>
          <p:nvPr/>
        </p:nvSpPr>
        <p:spPr>
          <a:xfrm>
            <a:off x="1699238" y="866520"/>
            <a:ext cx="5513294" cy="3877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" altLang="ko-Kore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RQ1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구조적 사전 확률의 효과</a:t>
            </a:r>
          </a:p>
          <a:p>
            <a:pPr>
              <a:lnSpc>
                <a:spcPct val="130000"/>
              </a:lnSpc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가설 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en" altLang="ko-Kore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s'(</a:t>
            </a:r>
            <a:r>
              <a:rPr lang="en" altLang="ko-Kore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q,d</a:t>
            </a:r>
            <a:r>
              <a:rPr lang="en" altLang="ko-Kore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 시 </a:t>
            </a:r>
            <a:r>
              <a:rPr lang="en" altLang="ko-Kore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Precision@k</a:t>
            </a:r>
            <a:r>
              <a:rPr lang="en" altLang="ko-Kore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MRR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향상</a:t>
            </a:r>
            <a:b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평가 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en" altLang="ko-Kore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LLeQA</a:t>
            </a:r>
            <a:r>
              <a:rPr lang="en" altLang="ko-Kore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UDA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데이터셋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30000"/>
              </a:lnSpc>
            </a:pP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lang="en" altLang="ko-Kore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RQ2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" altLang="ko-Kore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 에이전트의 효율성</a:t>
            </a:r>
          </a:p>
          <a:p>
            <a:pPr>
              <a:lnSpc>
                <a:spcPct val="130000"/>
              </a:lnSpc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가설 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en" altLang="ko-Kore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Multi-hop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질의에서 </a:t>
            </a:r>
            <a:r>
              <a:rPr lang="en" altLang="ko-Kore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GraphRAG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 빠르고 정확</a:t>
            </a:r>
            <a:b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평가 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en" altLang="ko-Kore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HotpotQA</a:t>
            </a:r>
            <a:r>
              <a:rPr lang="en" altLang="ko-Kore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" altLang="ko-Kore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MuSiQue</a:t>
            </a:r>
            <a:r>
              <a:rPr lang="en" altLang="ko-Kore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+ Latency, EM/F1</a:t>
            </a:r>
          </a:p>
          <a:p>
            <a:pPr>
              <a:lnSpc>
                <a:spcPct val="130000"/>
              </a:lnSpc>
            </a:pPr>
            <a:endParaRPr lang="en" altLang="ko-Kore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lang="en" altLang="ko-Kore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RQ3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가치 모델 </a:t>
            </a:r>
            <a:r>
              <a:rPr lang="en" altLang="ko-Kore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vs 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규칙 기반</a:t>
            </a:r>
          </a:p>
          <a:p>
            <a:pPr>
              <a:lnSpc>
                <a:spcPct val="130000"/>
              </a:lnSpc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가설 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충실성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↑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완전성↑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환각↓</a:t>
            </a:r>
            <a:b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평가 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en" altLang="ko-Kore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RAGBench</a:t>
            </a:r>
            <a:r>
              <a:rPr lang="en" altLang="ko-Kore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+ RAGAS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점수</a:t>
            </a:r>
          </a:p>
          <a:p>
            <a:pPr lvl="8">
              <a:lnSpc>
                <a:spcPct val="130000"/>
              </a:lnSpc>
            </a:pPr>
            <a:endParaRPr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6764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D8ECC739-1691-2F52-EFAB-D605CB258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E459310F-E2E0-DEA5-A3F0-4CDC2EA330BB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1C713DE5-751E-61EE-19C3-9BE037D1AA75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3F910EEA-A13C-7EC4-CCBD-5CBC68B7728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C7E174B4-9A93-8AC4-5284-88A7C1E427FA}"/>
              </a:ext>
            </a:extLst>
          </p:cNvPr>
          <p:cNvSpPr txBox="1"/>
          <p:nvPr/>
        </p:nvSpPr>
        <p:spPr>
          <a:xfrm>
            <a:off x="1353975" y="211873"/>
            <a:ext cx="49794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5.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 연구 계획 </a:t>
            </a: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: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 진행 상황 종합 및 연구 일정</a:t>
            </a:r>
            <a:endParaRPr lang="en-US" altLang="ko-KR" sz="2000" b="1"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anumGothic ExtraBold"/>
            </a:endParaRPr>
          </a:p>
          <a:p>
            <a:pPr>
              <a:lnSpc>
                <a:spcPct val="115000"/>
              </a:lnSpc>
            </a:pPr>
            <a:endParaRPr lang="en-US" altLang="ko-KR" sz="2000" b="1"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anumGothic ExtraBold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4E7AC53-F04D-F3EF-F476-D3DE053667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57402"/>
              </p:ext>
            </p:extLst>
          </p:nvPr>
        </p:nvGraphicFramePr>
        <p:xfrm>
          <a:off x="1533292" y="872163"/>
          <a:ext cx="6841451" cy="1842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5533">
                  <a:extLst>
                    <a:ext uri="{9D8B030D-6E8A-4147-A177-3AD203B41FA5}">
                      <a16:colId xmlns:a16="http://schemas.microsoft.com/office/drawing/2014/main" val="1891709677"/>
                    </a:ext>
                  </a:extLst>
                </a:gridCol>
                <a:gridCol w="1368057">
                  <a:extLst>
                    <a:ext uri="{9D8B030D-6E8A-4147-A177-3AD203B41FA5}">
                      <a16:colId xmlns:a16="http://schemas.microsoft.com/office/drawing/2014/main" val="3375249052"/>
                    </a:ext>
                  </a:extLst>
                </a:gridCol>
                <a:gridCol w="974938">
                  <a:extLst>
                    <a:ext uri="{9D8B030D-6E8A-4147-A177-3AD203B41FA5}">
                      <a16:colId xmlns:a16="http://schemas.microsoft.com/office/drawing/2014/main" val="2633725916"/>
                    </a:ext>
                  </a:extLst>
                </a:gridCol>
                <a:gridCol w="2542923">
                  <a:extLst>
                    <a:ext uri="{9D8B030D-6E8A-4147-A177-3AD203B41FA5}">
                      <a16:colId xmlns:a16="http://schemas.microsoft.com/office/drawing/2014/main" val="3317354778"/>
                    </a:ext>
                  </a:extLst>
                </a:gridCol>
              </a:tblGrid>
              <a:tr h="3021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4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Phase</a:t>
                      </a:r>
                      <a:endParaRPr lang="en" sz="14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상태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진행률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성과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97921343"/>
                  </a:ext>
                </a:extLst>
              </a:tr>
              <a:tr h="3021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4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Phase 1</a:t>
                      </a:r>
                      <a:endParaRPr lang="en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ore-KR" altLang="en-US" sz="14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4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완료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ore-KR" sz="14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100%</a:t>
                      </a:r>
                      <a:endParaRPr lang="en-US" altLang="ko-Kore-KR" sz="14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가치 함수 학습 검증 </a:t>
                      </a:r>
                      <a:r>
                        <a:rPr lang="en-US" altLang="ko-KR" sz="14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(2.9</a:t>
                      </a:r>
                      <a:r>
                        <a:rPr lang="ko-KR" altLang="en-US" sz="14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배↑</a:t>
                      </a:r>
                      <a:r>
                        <a:rPr lang="en-US" altLang="ko-KR" sz="14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95044521"/>
                  </a:ext>
                </a:extLst>
              </a:tr>
              <a:tr h="3021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4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Phase 2-1</a:t>
                      </a:r>
                      <a:endParaRPr lang="en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완료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ore-KR" sz="14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95%</a:t>
                      </a:r>
                      <a:endParaRPr lang="en-US" altLang="ko-Kore-KR" sz="14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4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RAPTOR + p(d) + </a:t>
                      </a:r>
                      <a:r>
                        <a:rPr lang="ko-KR" altLang="en-US" sz="14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환경 구축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29781805"/>
                  </a:ext>
                </a:extLst>
              </a:tr>
              <a:tr h="3021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4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Phase 2-2</a:t>
                      </a:r>
                      <a:endParaRPr lang="en" sz="14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다음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ore-KR" sz="14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0%</a:t>
                      </a:r>
                      <a:endParaRPr lang="en-US" altLang="ko-Kore-KR" sz="14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4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V_plan/V_search </a:t>
                      </a:r>
                      <a:r>
                        <a:rPr lang="ko-KR" altLang="en-US" sz="14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구현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4999521"/>
                  </a:ext>
                </a:extLst>
              </a:tr>
              <a:tr h="3021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4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Phase 2-3</a:t>
                      </a:r>
                      <a:endParaRPr lang="en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대기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ore-KR" sz="14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0%</a:t>
                      </a:r>
                      <a:endParaRPr lang="en-US" altLang="ko-Kore-KR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4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MAPPO </a:t>
                      </a:r>
                      <a:r>
                        <a:rPr lang="ko-KR" altLang="en-US" sz="1400" u="none" strike="noStrike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훈련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96045073"/>
                  </a:ext>
                </a:extLst>
              </a:tr>
              <a:tr h="3311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데이터셋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진행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ore-KR" sz="14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60%</a:t>
                      </a:r>
                      <a:endParaRPr lang="en-US" altLang="ko-Kore-KR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</a:t>
                      </a:r>
                      <a:r>
                        <a:rPr lang="ko-KR" altLang="en-US" sz="1400" u="none" strike="noStrike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 후보 분석 완료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255268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329F7D5-BE11-EF71-4FC3-B3CDE408AB9F}"/>
              </a:ext>
            </a:extLst>
          </p:cNvPr>
          <p:cNvSpPr txBox="1"/>
          <p:nvPr/>
        </p:nvSpPr>
        <p:spPr>
          <a:xfrm>
            <a:off x="3057290" y="3123986"/>
            <a:ext cx="3793451" cy="1777410"/>
          </a:xfrm>
          <a:prstGeom prst="rect">
            <a:avLst/>
          </a:prstGeom>
          <a:solidFill>
            <a:srgbClr val="C5CCE0">
              <a:alpha val="29020"/>
            </a:srgbClr>
          </a:solidFill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  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[O]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환경 설정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준비</a:t>
            </a:r>
          </a:p>
          <a:p>
            <a:pPr>
              <a:lnSpc>
                <a:spcPct val="80000"/>
              </a:lnSpc>
            </a:pP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  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  ]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데이터셋 최종 결정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 </a:t>
            </a:r>
            <a:r>
              <a:rPr lang="ko-KR" altLang="en-US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전처리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← 현재</a:t>
            </a:r>
          </a:p>
          <a:p>
            <a:pPr>
              <a:lnSpc>
                <a:spcPct val="80000"/>
              </a:lnSpc>
            </a:pPr>
            <a:endParaRPr lang="ko-KR" alt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2-3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  ] </a:t>
            </a: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V_plan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V_search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모델 구현</a:t>
            </a:r>
          </a:p>
          <a:p>
            <a:pPr>
              <a:lnSpc>
                <a:spcPct val="80000"/>
              </a:lnSpc>
            </a:pPr>
            <a:endParaRPr lang="ko-KR" alt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3-4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  ] MAPPO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파이프라인 구축 및 훈련</a:t>
            </a:r>
          </a:p>
          <a:p>
            <a:pPr>
              <a:lnSpc>
                <a:spcPct val="80000"/>
              </a:lnSpc>
            </a:pPr>
            <a:endParaRPr lang="ko-KR" alt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  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  ]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평가 및 분석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베이스라인 비교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>
              <a:lnSpc>
                <a:spcPct val="80000"/>
              </a:lnSpc>
            </a:pP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50000"/>
              </a:lnSpc>
            </a:pP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50000"/>
              </a:lnSpc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1-2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  ]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정리 및 보고서 작성</a:t>
            </a:r>
            <a:endParaRPr lang="ko-Kore-KR" alt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" name="그래픽 5" descr="아래쪽 화살표 단색으로 채워진">
            <a:extLst>
              <a:ext uri="{FF2B5EF4-FFF2-40B4-BE49-F238E27FC236}">
                <a16:creationId xmlns:a16="http://schemas.microsoft.com/office/drawing/2014/main" id="{5588417B-537D-F7C2-0838-60DEF41FED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5416" y="2571750"/>
            <a:ext cx="457200" cy="55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080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D3C58CB6-358E-9396-C04A-96FCB792A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E99081-ADD6-78AE-5978-1BFE7C12F2A4}"/>
              </a:ext>
            </a:extLst>
          </p:cNvPr>
          <p:cNvSpPr txBox="1"/>
          <p:nvPr/>
        </p:nvSpPr>
        <p:spPr>
          <a:xfrm>
            <a:off x="2018553" y="772697"/>
            <a:ext cx="5513294" cy="4247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완료된 작업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가치 함수 학습 가능성 입증 </a:t>
            </a:r>
            <a:r>
              <a:rPr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(2.9</a:t>
            </a:r>
            <a:r>
              <a:rPr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 향상</a:t>
            </a:r>
            <a:r>
              <a:rPr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" altLang="ko-Kore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RAPTOR </a:t>
            </a:r>
            <a:r>
              <a:rPr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트리 구축 완료</a:t>
            </a:r>
            <a:endParaRPr lang="en-US" altLang="ko-KR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구조적 사전 확률 </a:t>
            </a:r>
            <a:r>
              <a:rPr lang="en" altLang="ko-Kore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p(d) </a:t>
            </a:r>
            <a:r>
              <a:rPr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계산 구현</a:t>
            </a:r>
            <a:endParaRPr lang="en-US" altLang="ko-KR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하이브리드 검색 점수 설계</a:t>
            </a:r>
            <a:endParaRPr lang="en-US" altLang="ko-KR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ore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 </a:t>
            </a:r>
            <a:r>
              <a:rPr lang="en" altLang="ko-Kore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MDP </a:t>
            </a:r>
            <a:r>
              <a:rPr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환경 구현</a:t>
            </a:r>
            <a:endParaRPr lang="en-US" altLang="ko-KR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ore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</a:t>
            </a:r>
            <a:r>
              <a:rPr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데이터셋 후보 분석</a:t>
            </a:r>
          </a:p>
          <a:p>
            <a:pPr>
              <a:lnSpc>
                <a:spcPct val="130000"/>
              </a:lnSpc>
            </a:pPr>
            <a:r>
              <a:rPr lang="ko-KR" altLang="en-US" sz="15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진행중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" altLang="ko-Kore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Phase 2-1 </a:t>
            </a:r>
            <a:r>
              <a:rPr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디버깅</a:t>
            </a:r>
            <a:endParaRPr lang="en-US" altLang="ko-KR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데이터셋 최종 결정</a:t>
            </a:r>
          </a:p>
          <a:p>
            <a:pPr>
              <a:lnSpc>
                <a:spcPct val="130000"/>
              </a:lnSpc>
            </a:pPr>
            <a:r>
              <a:rPr lang="ko-KR" altLang="en-US" sz="15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다음 단계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" altLang="ko-Kore-KR" sz="15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V_plan</a:t>
            </a:r>
            <a:r>
              <a:rPr lang="en" altLang="ko-Kore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en" altLang="ko-Kore-KR" sz="15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V_search</a:t>
            </a:r>
            <a:r>
              <a:rPr lang="en" altLang="ko-Kore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모델 구현</a:t>
            </a:r>
            <a:endParaRPr lang="en-US" altLang="ko-KR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" altLang="ko-Kore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MAPPO </a:t>
            </a:r>
            <a:r>
              <a:rPr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훈련 파이프라인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73F090FA-28C6-2A05-8C6D-AA4E0ABD4A1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84B6266A-0C82-091B-8879-229ABBFCF49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30CB4A04-E177-1599-88EB-D512A57537D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3EA2B6B-FD55-3C31-7261-D7FD490BB8D7}"/>
              </a:ext>
            </a:extLst>
          </p:cNvPr>
          <p:cNvSpPr txBox="1"/>
          <p:nvPr/>
        </p:nvSpPr>
        <p:spPr>
          <a:xfrm>
            <a:off x="1353975" y="211873"/>
            <a:ext cx="49794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6.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 핵심 성과</a:t>
            </a:r>
            <a:endParaRPr lang="en-US" altLang="ko-KR" sz="2000" b="1"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anumGothic ExtraBold"/>
            </a:endParaRPr>
          </a:p>
          <a:p>
            <a:pPr>
              <a:lnSpc>
                <a:spcPct val="115000"/>
              </a:lnSpc>
            </a:pPr>
            <a:endParaRPr lang="en-US" altLang="ko-KR" sz="2000" b="1"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anumGothic ExtraBold"/>
            </a:endParaRPr>
          </a:p>
        </p:txBody>
      </p:sp>
      <p:pic>
        <p:nvPicPr>
          <p:cNvPr id="10" name="그래픽 9" descr="충분한 재고 윤곽선">
            <a:extLst>
              <a:ext uri="{FF2B5EF4-FFF2-40B4-BE49-F238E27FC236}">
                <a16:creationId xmlns:a16="http://schemas.microsoft.com/office/drawing/2014/main" id="{62303AB6-E342-F7AB-47E0-2C950523C5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3922" y="2976662"/>
            <a:ext cx="1863050" cy="186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411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3CAFD2EF-C3CD-40EA-F7C2-43B16C98F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BF2253-EAA8-F203-1DCB-8F82A255AEE7}"/>
              </a:ext>
            </a:extLst>
          </p:cNvPr>
          <p:cNvSpPr txBox="1"/>
          <p:nvPr/>
        </p:nvSpPr>
        <p:spPr>
          <a:xfrm>
            <a:off x="1815353" y="715088"/>
            <a:ext cx="5513294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학술적 기여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검색을 명시적 가치 의사결정으로 공식화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에이전트 기반 </a:t>
            </a:r>
            <a:r>
              <a:rPr lang="en" altLang="ko-Kore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RAG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새로운 패러다임 제시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계획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탐색 분리를 통한 해석 가능성 향상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기술적 기여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구조적 정보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강화학습의 유기적 결합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종단간 학습 가능한 검색 시스템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" altLang="ko-Kore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Multi-hop reasoning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능력 강화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실용적 기여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복잡한 질의 처리 능력 향상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검색 효율성 개선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도메인 사전 선택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답변 품질 향상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충실성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완전성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84AA1CE6-3D03-B418-A35B-E53BBFA49CDE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C36EACBF-B872-A467-A699-4A5B394BF95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D255AA56-0521-6D86-0404-C60270323E2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BC9EF3E-3D3A-E180-89E5-4E2C1728F2C8}"/>
              </a:ext>
            </a:extLst>
          </p:cNvPr>
          <p:cNvSpPr txBox="1"/>
          <p:nvPr/>
        </p:nvSpPr>
        <p:spPr>
          <a:xfrm>
            <a:off x="1353975" y="211873"/>
            <a:ext cx="49794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6.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 기대 효과</a:t>
            </a:r>
            <a:endParaRPr lang="en-US" altLang="ko-KR" sz="2000" b="1"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anumGothic ExtraBold"/>
            </a:endParaRPr>
          </a:p>
          <a:p>
            <a:pPr>
              <a:lnSpc>
                <a:spcPct val="115000"/>
              </a:lnSpc>
            </a:pPr>
            <a:endParaRPr lang="en-US" altLang="ko-KR" sz="2000" b="1"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anumGothic ExtraBold"/>
            </a:endParaRPr>
          </a:p>
        </p:txBody>
      </p:sp>
      <p:pic>
        <p:nvPicPr>
          <p:cNvPr id="10" name="그래픽 9" descr="브이로그 단색으로 채워진">
            <a:extLst>
              <a:ext uri="{FF2B5EF4-FFF2-40B4-BE49-F238E27FC236}">
                <a16:creationId xmlns:a16="http://schemas.microsoft.com/office/drawing/2014/main" id="{743B9214-FB88-C084-2CEA-82D26A132C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3375" y="2949874"/>
            <a:ext cx="1912775" cy="1912775"/>
          </a:xfrm>
          <a:prstGeom prst="rect">
            <a:avLst/>
          </a:prstGeom>
        </p:spPr>
      </p:pic>
      <p:pic>
        <p:nvPicPr>
          <p:cNvPr id="12" name="그래픽 11" descr="플러그 윤곽선">
            <a:extLst>
              <a:ext uri="{FF2B5EF4-FFF2-40B4-BE49-F238E27FC236}">
                <a16:creationId xmlns:a16="http://schemas.microsoft.com/office/drawing/2014/main" id="{65E7310C-3DB4-AB48-88C5-CC73F99E4F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72306" y="2374417"/>
            <a:ext cx="1234912" cy="1234912"/>
          </a:xfrm>
          <a:prstGeom prst="rect">
            <a:avLst/>
          </a:prstGeom>
        </p:spPr>
      </p:pic>
      <p:pic>
        <p:nvPicPr>
          <p:cNvPr id="14" name="그래픽 13" descr="브이로그 단색으로 채워진">
            <a:extLst>
              <a:ext uri="{FF2B5EF4-FFF2-40B4-BE49-F238E27FC236}">
                <a16:creationId xmlns:a16="http://schemas.microsoft.com/office/drawing/2014/main" id="{8C9E4012-5129-3383-AF54-7C79010CD0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33375" y="651222"/>
            <a:ext cx="1912775" cy="191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090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F31C13B-7E61-3F2C-0DDA-FBF513C5E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657E9C7D-B6F4-9AB9-62ED-3FA0D8E934F5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T</a:t>
            </a:r>
            <a:endParaRPr dirty="0"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E4F4DE70-E5CB-3D30-01F4-DE66AC80B9A7}"/>
              </a:ext>
            </a:extLst>
          </p:cNvPr>
          <p:cNvSpPr txBox="1"/>
          <p:nvPr/>
        </p:nvSpPr>
        <p:spPr>
          <a:xfrm>
            <a:off x="1181088" y="2258218"/>
            <a:ext cx="7962912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sz="2500" b="1"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0EA5CDBC-1671-A53E-4FDA-D3085ED4B2C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AC11BE98-144F-84E0-0929-05C19A45F5D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918449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1618</TotalTime>
  <Words>1078</Words>
  <Application>Microsoft Macintosh PowerPoint</Application>
  <PresentationFormat>화면 슬라이드 쇼(16:9)</PresentationFormat>
  <Paragraphs>237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Arial</vt:lpstr>
      <vt:lpstr>Apple SD Gothic Neo</vt:lpstr>
      <vt:lpstr>Pretendard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김세린</dc:creator>
  <cp:lastModifiedBy>오유리</cp:lastModifiedBy>
  <cp:revision>16</cp:revision>
  <cp:lastPrinted>2025-11-25T08:28:15Z</cp:lastPrinted>
  <dcterms:modified xsi:type="dcterms:W3CDTF">2025-11-25T08:55:32Z</dcterms:modified>
</cp:coreProperties>
</file>