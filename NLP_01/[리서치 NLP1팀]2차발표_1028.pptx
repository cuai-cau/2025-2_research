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2" r:id="rId9"/>
    <p:sldId id="263" r:id="rId10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9"/>
    <p:restoredTop sz="91434"/>
  </p:normalViewPr>
  <p:slideViewPr>
    <p:cSldViewPr snapToGrid="0">
      <p:cViewPr varScale="1">
        <p:scale>
          <a:sx n="108" d="100"/>
          <a:sy n="108" d="100"/>
        </p:scale>
        <p:origin x="224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1773C-932D-0847-ABE7-761FBEFDADE6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08806-D7F8-274E-9F1C-E468AF5F9FD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7997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8806-D7F8-274E-9F1C-E468AF5F9FDC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46248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8806-D7F8-274E-9F1C-E468AF5F9FDC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96752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슬라이드는 화면 띄워놓고 </a:t>
            </a:r>
            <a:r>
              <a:rPr lang="en-US" altLang="ko-KR" dirty="0"/>
              <a:t>Notion</a:t>
            </a:r>
            <a:r>
              <a:rPr lang="ko-KR" altLang="en-US" dirty="0"/>
              <a:t>에서 읽으면서 발표하면 좋을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8806-D7F8-274E-9F1C-E468AF5F9FDC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10289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90A3-C0C6-3D8F-04D1-A2AA2B6D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4E44B-0A6E-F706-09D7-F10DB8BC2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0110D-7A3C-1F80-D616-144A160D1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슬라이드는 화면 띄워놓고 </a:t>
            </a:r>
            <a:r>
              <a:rPr lang="en-US" altLang="ko-KR" dirty="0"/>
              <a:t>Notion</a:t>
            </a:r>
            <a:r>
              <a:rPr lang="ko-KR" altLang="en-US" dirty="0"/>
              <a:t>에서 읽으면서 발표하면 좋을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30488-8FCE-3572-838F-81C85DC1B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8806-D7F8-274E-9F1C-E468AF5F9FDC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85329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888C3-47F0-ED40-D9D1-7A6E8CFD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DB3B1-98F6-2FF4-477F-5E4895EDA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4811C-AAA3-5DB0-B708-C94506DAF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슬라이드는 화면 띄워놓고 </a:t>
            </a:r>
            <a:r>
              <a:rPr lang="en-US" altLang="ko-KR" dirty="0"/>
              <a:t>Notion</a:t>
            </a:r>
            <a:r>
              <a:rPr lang="ko-KR" altLang="en-US" dirty="0"/>
              <a:t>에서 읽으면서 발표하면 좋을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F8D09-FC77-13E5-DC6C-6748B33BA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8806-D7F8-274E-9F1C-E468AF5F9FDC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88713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1D88-2DF5-7500-43FF-95219B9A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F52C1-A5C6-47D5-9BA2-5AE970EA8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88C3D-DF69-1191-3841-086C117F2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슬라이드는 화면 띄워놓고 </a:t>
            </a:r>
            <a:r>
              <a:rPr lang="en-US" altLang="ko-KR" dirty="0"/>
              <a:t>Notion</a:t>
            </a:r>
            <a:r>
              <a:rPr lang="ko-KR" altLang="en-US" dirty="0"/>
              <a:t>에서 읽으면서 발표하면 좋을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E30AD-74F5-2AB3-D6B4-1E8EE144A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8806-D7F8-274E-9F1C-E468AF5F9FDC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91152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40FB1-AF9F-B9C7-8AFF-52DBDD75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638A0-4BE2-31B7-F245-CA4849C36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77E11-DC90-1285-375B-D00004A58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슬라이드는 화면 띄워놓고 </a:t>
            </a:r>
            <a:r>
              <a:rPr lang="en-US" altLang="ko-KR" dirty="0"/>
              <a:t>Notion</a:t>
            </a:r>
            <a:r>
              <a:rPr lang="ko-KR" altLang="en-US" dirty="0"/>
              <a:t>에서 읽으면서 발표하면 좋을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F4548-DEE1-B335-8FF0-39E221B17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8806-D7F8-274E-9F1C-E468AF5F9FDC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1932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65CC-73E9-FAEC-B10D-26745768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AC866-8ACC-2057-953E-07A9374D7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9B96A-9507-9D92-7F52-1809F91D9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365E7-544B-573A-DCE5-6C2BBB6FA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8806-D7F8-274E-9F1C-E468AF5F9FDC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20219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DFCD-CC87-E8DE-C110-912B1FCB1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9268E-8824-C51C-646C-3C7E02F30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20202-DEF1-8BE8-F472-F6B28C77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13E02-3C6C-BD48-A048-D0C255289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1D7A-0CDB-12AE-1BFA-56D62BB8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9980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CAD4-5FF7-3C89-FA13-66BCAF91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7D28C-C4B6-D105-CBE4-09F7F9BB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5CB0B-C16C-A3A0-DD52-D09B839C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5AD3F-61F3-06D6-3578-B71E12D7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07D50-5A29-009E-F91C-B0AB3CAA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498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8C190-4964-BBBF-9DB1-D49973E6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7613F-6488-F08A-9B7B-87E33EC3B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6A380-7FAF-C4F8-FFB8-F1697DB6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BE079-6B11-B951-EE35-8737BD00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B35C6-307B-A19B-3A5E-2D8115B3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79992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507D-C6CB-17FC-8231-EDD5343B6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79B0-7D26-EF66-33D0-ACDFF5B52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D3702-4D18-8D41-2684-DD9BDA4D9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8DE6E-A2D9-C5AA-790B-53968C77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3FB7A-E5BE-3278-9A9A-8A5ED746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7A577-893C-6DA0-DB34-45B12281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5066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49ED-8EAD-A794-3533-8E4FFB15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6380D-56A4-BF08-4ADE-87557DD71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202B8-17F2-2628-5439-9A498F317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38073-BC7A-BD8F-B6B5-ACA63FA5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57555-9253-F61A-F7AD-E0DE32129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43871-5496-8596-A50B-8EBEA12A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EEB07-A3A7-FD48-186A-5C5886911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F9F0A-591E-8396-9816-0E69D562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7359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1852-BFCC-AD4C-C907-711F5FE89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342B1-170C-EF27-2512-1F9CC0E60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B958F-C384-2FD3-2B43-E5A30C40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421D5-56AE-E8FD-E9BC-27169B7C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9588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B5FD1E-45C7-E71B-78BF-2A412AEC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1DF65-8BFB-64A7-CBA8-21119C1B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483F6-4F5D-1F58-A3F2-93423341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3363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D80A-4031-78F5-AA4F-2F6245004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D28BB-8C24-5609-629B-426C33162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4AEB0-EC22-0AC5-D746-760AFE6FB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03DB4-0F7B-E854-E3DD-02F62663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7DBAE-6B29-EBAF-CD2E-52015EBC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3C3FA-6CFC-1FB6-2B9F-45FB895E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5035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796B-ECF9-FB67-D18A-9FCB383E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BF65E-DD41-B4B8-9883-8ED0BA37F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10720-1FE7-76EC-E5A8-7629FF785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AD27E-F08A-69E3-33D3-891359FF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75293-DF9B-FDD6-B6F2-2E36F99B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79DD6-1935-D4F1-BD44-B35B3598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21013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5BD1-5569-1086-41E6-10AF4B00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A750F-41DC-1236-AFB1-272E84E14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2985A-AF52-33F0-BD18-9607E735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FBDB-938F-BB82-1D55-40CA8C5B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4C4B4-52EE-925F-AF9D-B5347B34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1741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BC4D20-8F62-DD75-F1A1-6417D7BD9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9170F-E916-669A-2857-10CF54E42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797E6-8DAE-B614-2A2A-971F757B0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B55DD-A138-D08F-0EF4-D9D231EC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18F62-B7EE-675C-EA55-7374C293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9174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4C4B2-F516-3864-1666-EB00B268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80714-CED3-3924-84EB-947EB456E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998F6-57C5-B956-3CDB-5FCD96775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FB5AE-2B23-0F4B-842D-2C3C0F7F2597}" type="datetimeFigureOut">
              <a:rPr lang="en-KR" smtClean="0"/>
              <a:t>10/28/25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BF8F0-3D89-97A3-F191-48502D25B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1ED88-E69B-0436-B379-B57FFAF12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77BD6-942E-C64B-A365-11412A69660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1075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7C82-9C2B-4206-3CAB-E565FCA16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KR" sz="4000" b="1" dirty="0">
                <a:solidFill>
                  <a:srgbClr val="002060"/>
                </a:solidFill>
              </a:rPr>
              <a:t>CUAI NLP </a:t>
            </a:r>
            <a:r>
              <a:rPr lang="en-US" sz="4000" b="1" dirty="0">
                <a:solidFill>
                  <a:srgbClr val="002060"/>
                </a:solidFill>
              </a:rPr>
              <a:t>Research</a:t>
            </a:r>
            <a:r>
              <a:rPr lang="ko-KR" altLang="en-US" sz="4000" b="1" dirty="0">
                <a:solidFill>
                  <a:srgbClr val="002060"/>
                </a:solidFill>
              </a:rPr>
              <a:t> </a:t>
            </a:r>
            <a:r>
              <a:rPr lang="en-US" altLang="ko-KR" sz="4000" b="1" dirty="0">
                <a:solidFill>
                  <a:srgbClr val="002060"/>
                </a:solidFill>
              </a:rPr>
              <a:t>1</a:t>
            </a:r>
            <a:r>
              <a:rPr lang="ko-KR" altLang="en-US" sz="4000" b="1" dirty="0">
                <a:solidFill>
                  <a:srgbClr val="002060"/>
                </a:solidFill>
              </a:rPr>
              <a:t>팀</a:t>
            </a:r>
            <a:endParaRPr lang="en-KR" sz="4000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1E95-ED79-D1F5-7E83-ADB1DDEA98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altLang="ko-KR" b="1" dirty="0"/>
              <a:t>2025.10.28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6F7EB1-3B58-7FDD-60EC-49F9E3562961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6" name="Google Shape;54;p13">
              <a:extLst>
                <a:ext uri="{FF2B5EF4-FFF2-40B4-BE49-F238E27FC236}">
                  <a16:creationId xmlns:a16="http://schemas.microsoft.com/office/drawing/2014/main" id="{7AE8B8E8-E3E9-7CCD-3E13-6723CB8E40D3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" name="Google Shape;56;p13">
              <a:extLst>
                <a:ext uri="{FF2B5EF4-FFF2-40B4-BE49-F238E27FC236}">
                  <a16:creationId xmlns:a16="http://schemas.microsoft.com/office/drawing/2014/main" id="{44FAFF02-F1EF-E7DF-F0AD-39449B950A4D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8" name="Google Shape;57;p13">
              <a:extLst>
                <a:ext uri="{FF2B5EF4-FFF2-40B4-BE49-F238E27FC236}">
                  <a16:creationId xmlns:a16="http://schemas.microsoft.com/office/drawing/2014/main" id="{A2B224C2-D4F2-47ED-2682-041167A18054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30789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84BA-C0C2-6AFC-07AD-02F8C44C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048" y="437082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002060"/>
                </a:solidFill>
              </a:rPr>
              <a:t>팀 소개</a:t>
            </a:r>
            <a:endParaRPr lang="en-KR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F6D44-125F-E5A4-F02C-8A0A28E9A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7048" y="140679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ko-KR" altLang="en-US" sz="2000" b="1" dirty="0">
                <a:solidFill>
                  <a:srgbClr val="002060"/>
                </a:solidFill>
              </a:rPr>
              <a:t>팀원 소개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ko-KR" altLang="en-US" sz="2000" b="1" dirty="0"/>
              <a:t>        팀원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오유리</a:t>
            </a:r>
            <a:endParaRPr lang="en-US" altLang="ko-KR" sz="2000" b="1" dirty="0"/>
          </a:p>
          <a:p>
            <a:pPr marL="0" indent="0">
              <a:buNone/>
            </a:pPr>
            <a:r>
              <a:rPr lang="ko-KR" altLang="en-US" sz="2000" b="1" dirty="0"/>
              <a:t>        팀원 </a:t>
            </a:r>
            <a:r>
              <a:rPr lang="en-US" altLang="ko-KR" sz="2000" b="1" dirty="0"/>
              <a:t>2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–</a:t>
            </a:r>
            <a:r>
              <a:rPr lang="ko-KR" altLang="en-US" sz="2000" b="1" dirty="0"/>
              <a:t> 차승준</a:t>
            </a:r>
            <a:endParaRPr lang="en-US" altLang="ko-KR" sz="2000" b="1" dirty="0"/>
          </a:p>
          <a:p>
            <a:pPr marL="0" indent="0">
              <a:buNone/>
            </a:pPr>
            <a:r>
              <a:rPr lang="ko-KR" altLang="en-US" sz="2000" b="1" dirty="0"/>
              <a:t>        팀원</a:t>
            </a:r>
            <a:r>
              <a:rPr lang="en-US" altLang="ko-KR" sz="2000" b="1" dirty="0"/>
              <a:t>3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양희원</a:t>
            </a:r>
            <a:endParaRPr lang="en-KR" sz="20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4B717E-A04C-A2BF-9C93-C1564E38F578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5" name="Google Shape;54;p13">
              <a:extLst>
                <a:ext uri="{FF2B5EF4-FFF2-40B4-BE49-F238E27FC236}">
                  <a16:creationId xmlns:a16="http://schemas.microsoft.com/office/drawing/2014/main" id="{B17F0892-5536-F0C7-AF77-0EC24EF5A517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" name="Google Shape;56;p13">
              <a:extLst>
                <a:ext uri="{FF2B5EF4-FFF2-40B4-BE49-F238E27FC236}">
                  <a16:creationId xmlns:a16="http://schemas.microsoft.com/office/drawing/2014/main" id="{01930C84-3109-387D-D4BA-9B53CD6EF436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" name="Google Shape;57;p13">
              <a:extLst>
                <a:ext uri="{FF2B5EF4-FFF2-40B4-BE49-F238E27FC236}">
                  <a16:creationId xmlns:a16="http://schemas.microsoft.com/office/drawing/2014/main" id="{77BD9695-0542-267B-6E0A-3BBF5C1B5EA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D3B7FD8-A37D-EBDD-11DF-5E53689FE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067" y="1406798"/>
            <a:ext cx="6904127" cy="481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80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9D90A-6B49-0FB5-66B0-DC622CC7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BF49-9517-A64E-CCCD-8607DB12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34622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002060"/>
                </a:solidFill>
              </a:rPr>
              <a:t>연구 개요</a:t>
            </a:r>
            <a:endParaRPr lang="en-KR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B4367-77A3-3967-4B8B-296B7E77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7048" y="1697648"/>
            <a:ext cx="10221885" cy="492727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altLang="ko-KR" sz="22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02060"/>
                </a:solidFill>
              </a:rPr>
              <a:t>연구 개요</a:t>
            </a:r>
            <a:endParaRPr lang="en-US" altLang="ko-KR" sz="2400" b="1" dirty="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/>
              <a:t>     </a:t>
            </a:r>
            <a:r>
              <a:rPr lang="en" altLang="ko-Kore-KR" sz="2200" dirty="0"/>
              <a:t>RAG(</a:t>
            </a:r>
            <a:r>
              <a:rPr lang="ko-KR" altLang="en-US" sz="2200" dirty="0"/>
              <a:t>검색 증강 생성</a:t>
            </a:r>
            <a:r>
              <a:rPr lang="en-US" altLang="ko-KR" sz="2200" dirty="0"/>
              <a:t>) </a:t>
            </a:r>
            <a:r>
              <a:rPr lang="ko-KR" altLang="en-US" sz="2200" dirty="0"/>
              <a:t>시스템의 한계를 극복하기 위한 </a:t>
            </a:r>
            <a:endParaRPr lang="en-US" altLang="ko-KR" sz="22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/>
              <a:t>    새로운 프레임워크인 </a:t>
            </a:r>
            <a:r>
              <a:rPr lang="en" altLang="ko-Kore-KR" sz="2200" dirty="0"/>
              <a:t>HVDR(Hierarchical Value-Driven Retrieval</a:t>
            </a:r>
            <a:r>
              <a:rPr lang="en-US" altLang="ko-KR" sz="2200" dirty="0"/>
              <a:t>)</a:t>
            </a:r>
            <a:r>
              <a:rPr lang="ko-KR" altLang="en-US" sz="2200" dirty="0"/>
              <a:t>의 제안</a:t>
            </a:r>
            <a:endParaRPr lang="en-US" altLang="ko-KR" sz="2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200" dirty="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2200" dirty="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/>
              <a:t>	</a:t>
            </a:r>
            <a:r>
              <a:rPr lang="ko-KR" altLang="en-US" sz="2400" dirty="0"/>
              <a:t>기존 계층적 검색 접근법이 제공하는 정적인</a:t>
            </a:r>
            <a:r>
              <a:rPr lang="ko-KR" altLang="en-US" sz="2400" b="1" dirty="0"/>
              <a:t> 구조</a:t>
            </a:r>
            <a:r>
              <a:rPr lang="ko-KR" altLang="en-US" sz="2400" dirty="0"/>
              <a:t> 위에</a:t>
            </a:r>
            <a:r>
              <a:rPr lang="en-US" altLang="ko-KR" sz="2400" dirty="0"/>
              <a:t>, </a:t>
            </a:r>
            <a:r>
              <a:rPr lang="ko-KR" altLang="en-US" sz="2400" dirty="0"/>
              <a:t>검색의 각 </a:t>
            </a:r>
            <a:r>
              <a:rPr lang="en-US" altLang="ko-KR" sz="2400" dirty="0"/>
              <a:t>	</a:t>
            </a:r>
            <a:r>
              <a:rPr lang="ko-KR" altLang="en-US" sz="2400" dirty="0"/>
              <a:t>단계를 </a:t>
            </a:r>
            <a:r>
              <a:rPr lang="ko-KR" altLang="en-US" sz="2400" b="1" dirty="0"/>
              <a:t>가치</a:t>
            </a:r>
            <a:r>
              <a:rPr lang="en-US" altLang="ko-KR" sz="2400" b="1" dirty="0"/>
              <a:t>(</a:t>
            </a:r>
            <a:r>
              <a:rPr lang="en-US" sz="2400" b="1" dirty="0"/>
              <a:t>Value) </a:t>
            </a:r>
            <a:r>
              <a:rPr lang="ko-KR" altLang="en-US" sz="2400" b="1" dirty="0"/>
              <a:t>기반의 순차적 의사결정 문제</a:t>
            </a:r>
            <a:r>
              <a:rPr lang="ko-KR" altLang="en-US" sz="2400" dirty="0"/>
              <a:t>로 재정의</a:t>
            </a:r>
            <a:endParaRPr lang="en-US" altLang="ko-KR" sz="2200" dirty="0">
              <a:solidFill>
                <a:srgbClr val="00206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8D2295-00CE-89AA-68B3-7C5BCF8D6B2A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5" name="Google Shape;54;p13">
              <a:extLst>
                <a:ext uri="{FF2B5EF4-FFF2-40B4-BE49-F238E27FC236}">
                  <a16:creationId xmlns:a16="http://schemas.microsoft.com/office/drawing/2014/main" id="{4AD7DB98-95F8-3556-FE26-A93FB7A0865D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" name="Google Shape;56;p13">
              <a:extLst>
                <a:ext uri="{FF2B5EF4-FFF2-40B4-BE49-F238E27FC236}">
                  <a16:creationId xmlns:a16="http://schemas.microsoft.com/office/drawing/2014/main" id="{A6A11E58-513B-7D89-9C8F-460EF5CB7DD3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" name="Google Shape;57;p13">
              <a:extLst>
                <a:ext uri="{FF2B5EF4-FFF2-40B4-BE49-F238E27FC236}">
                  <a16:creationId xmlns:a16="http://schemas.microsoft.com/office/drawing/2014/main" id="{5DC75EDA-8B09-7C4F-3983-639984A03D3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711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FBE6-B8B1-53AA-1D36-E25D2931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3115-9EB0-F901-18C4-75996FBC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34622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002060"/>
                </a:solidFill>
              </a:rPr>
              <a:t>연구 진행 상황 </a:t>
            </a:r>
            <a:r>
              <a:rPr lang="en-US" altLang="ko-KR" sz="4000" b="1" dirty="0">
                <a:solidFill>
                  <a:srgbClr val="002060"/>
                </a:solidFill>
              </a:rPr>
              <a:t>1</a:t>
            </a:r>
            <a:r>
              <a:rPr lang="ko-KR" altLang="en-US" sz="4000" b="1" dirty="0">
                <a:solidFill>
                  <a:srgbClr val="002060"/>
                </a:solidFill>
              </a:rPr>
              <a:t> </a:t>
            </a:r>
            <a:r>
              <a:rPr lang="en-US" altLang="ko-KR" sz="4000" b="1" dirty="0">
                <a:solidFill>
                  <a:srgbClr val="002060"/>
                </a:solidFill>
              </a:rPr>
              <a:t>-</a:t>
            </a:r>
            <a:r>
              <a:rPr lang="ko-KR" altLang="en-US" sz="4000" b="1" dirty="0">
                <a:solidFill>
                  <a:srgbClr val="002060"/>
                </a:solidFill>
              </a:rPr>
              <a:t> 단기적 목표 설정</a:t>
            </a:r>
            <a:endParaRPr lang="en-KR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A403-7BB0-2DCD-FDF7-637D7AA66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7048" y="19492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/>
              <a:t>1)</a:t>
            </a:r>
            <a:r>
              <a:rPr lang="ko-KR" altLang="en-US" sz="2400" b="1" dirty="0"/>
              <a:t> 실험 데이터셋 확보</a:t>
            </a:r>
            <a:r>
              <a:rPr lang="en-US" altLang="ko-KR" sz="2400" b="1" dirty="0"/>
              <a:t> (</a:t>
            </a:r>
            <a:r>
              <a:rPr lang="ko-KR" altLang="en-US" sz="2400" b="1" dirty="0"/>
              <a:t>부재 시 대안 탐색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4BC82F-D25C-BE7C-436D-5E905A62AEC0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5" name="Google Shape;54;p13">
              <a:extLst>
                <a:ext uri="{FF2B5EF4-FFF2-40B4-BE49-F238E27FC236}">
                  <a16:creationId xmlns:a16="http://schemas.microsoft.com/office/drawing/2014/main" id="{55E824C3-328F-C2BF-9CCA-9B1BF4ADB1C0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" name="Google Shape;56;p13">
              <a:extLst>
                <a:ext uri="{FF2B5EF4-FFF2-40B4-BE49-F238E27FC236}">
                  <a16:creationId xmlns:a16="http://schemas.microsoft.com/office/drawing/2014/main" id="{A7F1F1FA-064B-3B46-A6F9-E35B561695FC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" name="Google Shape;57;p13">
              <a:extLst>
                <a:ext uri="{FF2B5EF4-FFF2-40B4-BE49-F238E27FC236}">
                  <a16:creationId xmlns:a16="http://schemas.microsoft.com/office/drawing/2014/main" id="{14F110B5-FCDE-A72E-F50A-A9C9E542594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5DEA33C-7EBE-9E01-254A-58B685251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032" y="3158836"/>
            <a:ext cx="5349196" cy="2679359"/>
          </a:xfrm>
          <a:prstGeom prst="rect">
            <a:avLst/>
          </a:prstGeom>
        </p:spPr>
      </p:pic>
      <p:pic>
        <p:nvPicPr>
          <p:cNvPr id="1026" name="Picture 2" descr="Category hierarchy of the DOLCE ontology. DOLCE fragment, from [33],... |  Download Scientific Diagram">
            <a:extLst>
              <a:ext uri="{FF2B5EF4-FFF2-40B4-BE49-F238E27FC236}">
                <a16:creationId xmlns:a16="http://schemas.microsoft.com/office/drawing/2014/main" id="{6B4C4CA6-F164-0114-7D39-5DC6EDA99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260" y="3095230"/>
            <a:ext cx="4527055" cy="274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58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44F7-7A94-1E27-2BFD-EE2AE62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371A-F0D9-17E7-6C61-9CEE014F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34622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002060"/>
                </a:solidFill>
              </a:rPr>
              <a:t>연구 진행 상황 </a:t>
            </a:r>
            <a:r>
              <a:rPr lang="en-US" altLang="ko-KR" sz="4000" b="1" dirty="0">
                <a:solidFill>
                  <a:srgbClr val="002060"/>
                </a:solidFill>
              </a:rPr>
              <a:t>1</a:t>
            </a:r>
            <a:r>
              <a:rPr lang="ko-KR" altLang="en-US" sz="4000" b="1" dirty="0">
                <a:solidFill>
                  <a:srgbClr val="002060"/>
                </a:solidFill>
              </a:rPr>
              <a:t> </a:t>
            </a:r>
            <a:r>
              <a:rPr lang="en-US" altLang="ko-KR" sz="4000" b="1" dirty="0">
                <a:solidFill>
                  <a:srgbClr val="002060"/>
                </a:solidFill>
              </a:rPr>
              <a:t>-</a:t>
            </a:r>
            <a:r>
              <a:rPr lang="ko-KR" altLang="en-US" sz="4000" b="1" dirty="0">
                <a:solidFill>
                  <a:srgbClr val="002060"/>
                </a:solidFill>
              </a:rPr>
              <a:t> 단기적 목표 설정</a:t>
            </a:r>
            <a:endParaRPr lang="en-KR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5B2D1-BF8E-B730-FACD-75411BE5F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7048" y="19492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2) </a:t>
            </a:r>
            <a:r>
              <a:rPr lang="ko-KR" altLang="en-US" sz="2400" b="1" dirty="0"/>
              <a:t>기존 시스템 </a:t>
            </a:r>
            <a:r>
              <a:rPr lang="en-US" altLang="ko-KR" sz="2400" b="1" dirty="0"/>
              <a:t>(Vanila RAG, HRAG, </a:t>
            </a:r>
            <a:r>
              <a:rPr lang="en-US" altLang="ko-KR" sz="2400" b="1" dirty="0" err="1"/>
              <a:t>GraphRAG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논문 및 코드 정밀 분석</a:t>
            </a:r>
            <a:endParaRPr lang="en-US" altLang="ko-KR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ko-KR" altLang="en-US" sz="2400" b="1" dirty="0"/>
              <a:t>공통 벤치마크 데이터셋 여부 파악</a:t>
            </a:r>
            <a:endParaRPr lang="en-US" altLang="ko-KR" sz="2400" b="1" dirty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sz="2400" b="1" dirty="0"/>
              <a:t>	HVDR</a:t>
            </a:r>
            <a:r>
              <a:rPr lang="ko-KR" altLang="en-US" sz="2400" b="1" dirty="0"/>
              <a:t>의 근본적 차이점에 대한 분석 및 가설 설정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520CA6-070F-6961-5086-48415A916DFC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5" name="Google Shape;54;p13">
              <a:extLst>
                <a:ext uri="{FF2B5EF4-FFF2-40B4-BE49-F238E27FC236}">
                  <a16:creationId xmlns:a16="http://schemas.microsoft.com/office/drawing/2014/main" id="{AB2C70BD-29F6-629B-754D-19CB310342AB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" name="Google Shape;56;p13">
              <a:extLst>
                <a:ext uri="{FF2B5EF4-FFF2-40B4-BE49-F238E27FC236}">
                  <a16:creationId xmlns:a16="http://schemas.microsoft.com/office/drawing/2014/main" id="{9621ABD1-9FD4-2E34-1A20-58D2EB558DCF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" name="Google Shape;57;p13">
              <a:extLst>
                <a:ext uri="{FF2B5EF4-FFF2-40B4-BE49-F238E27FC236}">
                  <a16:creationId xmlns:a16="http://schemas.microsoft.com/office/drawing/2014/main" id="{830D385A-7ACB-952E-8F25-8304043502CD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4451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9B7A4-30BC-B66F-ECAD-29A08B69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BE17-AF6F-6FCC-9EF2-A18394AD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34622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002060"/>
                </a:solidFill>
              </a:rPr>
              <a:t>연구 진행 상황 </a:t>
            </a:r>
            <a:r>
              <a:rPr lang="en-US" altLang="ko-KR" sz="4000" b="1" dirty="0">
                <a:solidFill>
                  <a:srgbClr val="002060"/>
                </a:solidFill>
              </a:rPr>
              <a:t>2 – </a:t>
            </a:r>
            <a:r>
              <a:rPr lang="ko-KR" altLang="en-US" sz="4000" b="1" dirty="0">
                <a:solidFill>
                  <a:srgbClr val="002060"/>
                </a:solidFill>
              </a:rPr>
              <a:t>교수님 면담</a:t>
            </a:r>
            <a:endParaRPr lang="en-KR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7811B-A666-6E81-E9EB-3FA1D652C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7048" y="19492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/>
              <a:t>로드맵 설정</a:t>
            </a:r>
            <a:endParaRPr lang="en-US" sz="24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BBFC90-D466-57ED-6EF9-9EB6D6269A3E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5" name="Google Shape;54;p13">
              <a:extLst>
                <a:ext uri="{FF2B5EF4-FFF2-40B4-BE49-F238E27FC236}">
                  <a16:creationId xmlns:a16="http://schemas.microsoft.com/office/drawing/2014/main" id="{BB125457-A42A-72C1-BE71-206DFA06E53E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" name="Google Shape;56;p13">
              <a:extLst>
                <a:ext uri="{FF2B5EF4-FFF2-40B4-BE49-F238E27FC236}">
                  <a16:creationId xmlns:a16="http://schemas.microsoft.com/office/drawing/2014/main" id="{208795C6-4E0F-FE05-CB67-4E5A59CA8BC8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" name="Google Shape;57;p13">
              <a:extLst>
                <a:ext uri="{FF2B5EF4-FFF2-40B4-BE49-F238E27FC236}">
                  <a16:creationId xmlns:a16="http://schemas.microsoft.com/office/drawing/2014/main" id="{355D5D3E-4D55-3E57-C827-21E4AFEFE244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4CD274-4C66-D0CA-5E5D-FE0CBA9D4294}"/>
              </a:ext>
            </a:extLst>
          </p:cNvPr>
          <p:cNvGrpSpPr/>
          <p:nvPr/>
        </p:nvGrpSpPr>
        <p:grpSpPr>
          <a:xfrm>
            <a:off x="1747032" y="4850744"/>
            <a:ext cx="10289483" cy="1021279"/>
            <a:chOff x="1747032" y="3243613"/>
            <a:chExt cx="10289483" cy="102127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8316D01-ACF0-B762-C0F8-ECF487302800}"/>
                </a:ext>
              </a:extLst>
            </p:cNvPr>
            <p:cNvSpPr/>
            <p:nvPr/>
          </p:nvSpPr>
          <p:spPr>
            <a:xfrm>
              <a:off x="1747032" y="3243614"/>
              <a:ext cx="1708671" cy="102127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핵심 가설의 유효성 검증</a:t>
              </a:r>
              <a:endParaRPr lang="en-KR" dirty="0"/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FB44912C-B1B5-5CC9-0D8C-A9AFB320B638}"/>
                </a:ext>
              </a:extLst>
            </p:cNvPr>
            <p:cNvSpPr/>
            <p:nvPr/>
          </p:nvSpPr>
          <p:spPr>
            <a:xfrm>
              <a:off x="3603994" y="3666013"/>
              <a:ext cx="855023" cy="17647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4D6A8BD-EF27-D7F2-BF80-12611ABCFD15}"/>
                </a:ext>
              </a:extLst>
            </p:cNvPr>
            <p:cNvSpPr/>
            <p:nvPr/>
          </p:nvSpPr>
          <p:spPr>
            <a:xfrm>
              <a:off x="4607308" y="3243614"/>
              <a:ext cx="1708671" cy="102127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공정한 평가 환경 구축</a:t>
              </a:r>
              <a:endParaRPr lang="en-KR" dirty="0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B2F45EF6-9873-A758-D606-6718A6006A94}"/>
                </a:ext>
              </a:extLst>
            </p:cNvPr>
            <p:cNvSpPr/>
            <p:nvPr/>
          </p:nvSpPr>
          <p:spPr>
            <a:xfrm>
              <a:off x="6464270" y="3601523"/>
              <a:ext cx="855023" cy="17647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1C574AF-4955-E36E-F791-F5F8E52FDC03}"/>
                </a:ext>
              </a:extLst>
            </p:cNvPr>
            <p:cNvSpPr/>
            <p:nvPr/>
          </p:nvSpPr>
          <p:spPr>
            <a:xfrm>
              <a:off x="7467584" y="3243613"/>
              <a:ext cx="1708671" cy="102127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평가 전략 확립</a:t>
              </a:r>
              <a:endParaRPr lang="en-KR" dirty="0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44CF8A0F-5FCE-EB0E-A7F9-D7C0F7D814C7}"/>
                </a:ext>
              </a:extLst>
            </p:cNvPr>
            <p:cNvSpPr/>
            <p:nvPr/>
          </p:nvSpPr>
          <p:spPr>
            <a:xfrm>
              <a:off x="9324530" y="3596410"/>
              <a:ext cx="855023" cy="17647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B4CE9C2-E64C-8675-925B-21E2D200663A}"/>
                </a:ext>
              </a:extLst>
            </p:cNvPr>
            <p:cNvSpPr/>
            <p:nvPr/>
          </p:nvSpPr>
          <p:spPr>
            <a:xfrm>
              <a:off x="10327844" y="3243613"/>
              <a:ext cx="1708671" cy="102127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최종 모델 구현 및 실험</a:t>
              </a:r>
              <a:endParaRPr lang="en-KR" dirty="0"/>
            </a:p>
          </p:txBody>
        </p:sp>
      </p:grpSp>
      <p:sp>
        <p:nvSpPr>
          <p:cNvPr id="15" name="Cloud Callout 14">
            <a:extLst>
              <a:ext uri="{FF2B5EF4-FFF2-40B4-BE49-F238E27FC236}">
                <a16:creationId xmlns:a16="http://schemas.microsoft.com/office/drawing/2014/main" id="{2D3E3226-C71A-B897-4E0A-F42678913E40}"/>
              </a:ext>
            </a:extLst>
          </p:cNvPr>
          <p:cNvSpPr/>
          <p:nvPr/>
        </p:nvSpPr>
        <p:spPr>
          <a:xfrm>
            <a:off x="1747032" y="3082758"/>
            <a:ext cx="2256312" cy="1056904"/>
          </a:xfrm>
          <a:prstGeom prst="cloudCallou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</a:rPr>
              <a:t>Toy </a:t>
            </a:r>
            <a:r>
              <a:rPr lang="en-US" dirty="0">
                <a:solidFill>
                  <a:schemeClr val="tx1"/>
                </a:solidFill>
              </a:rPr>
              <a:t>model</a:t>
            </a:r>
            <a:r>
              <a:rPr lang="ko-KR" altLang="en-US" dirty="0">
                <a:solidFill>
                  <a:schemeClr val="tx1"/>
                </a:solidFill>
              </a:rPr>
              <a:t>을 구상 혹은 수학적 검증</a:t>
            </a:r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17" name="Cloud Callout 16">
            <a:extLst>
              <a:ext uri="{FF2B5EF4-FFF2-40B4-BE49-F238E27FC236}">
                <a16:creationId xmlns:a16="http://schemas.microsoft.com/office/drawing/2014/main" id="{1C21B29D-CF4B-86FC-BF87-90BF55691CD9}"/>
              </a:ext>
            </a:extLst>
          </p:cNvPr>
          <p:cNvSpPr/>
          <p:nvPr/>
        </p:nvSpPr>
        <p:spPr>
          <a:xfrm>
            <a:off x="7319293" y="3063214"/>
            <a:ext cx="2256312" cy="1056904"/>
          </a:xfrm>
          <a:prstGeom prst="cloudCallou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RAGAS</a:t>
            </a:r>
            <a:endParaRPr lang="en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08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2F57D-D353-7C25-0391-1B0B12098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7FB4-9566-1651-4599-97865588F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34622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002060"/>
                </a:solidFill>
              </a:rPr>
              <a:t>연구 진행 상황 </a:t>
            </a:r>
            <a:r>
              <a:rPr lang="en-US" altLang="ko-KR" sz="4000" b="1" dirty="0">
                <a:solidFill>
                  <a:srgbClr val="002060"/>
                </a:solidFill>
              </a:rPr>
              <a:t>3 - TRM</a:t>
            </a:r>
            <a:endParaRPr lang="en-KR" sz="4000" b="1" dirty="0">
              <a:solidFill>
                <a:srgbClr val="002060"/>
              </a:solidFill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6B7CD90-C5F4-8FC7-9FFD-8274D485C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47048" y="1909675"/>
            <a:ext cx="8361225" cy="303864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7A51D4C-2F6E-F8C3-496D-B17A722E9A8D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5" name="Google Shape;54;p13">
              <a:extLst>
                <a:ext uri="{FF2B5EF4-FFF2-40B4-BE49-F238E27FC236}">
                  <a16:creationId xmlns:a16="http://schemas.microsoft.com/office/drawing/2014/main" id="{A693B1E0-1C85-4DF4-868B-445DB4BB1B0A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" name="Google Shape;56;p13">
              <a:extLst>
                <a:ext uri="{FF2B5EF4-FFF2-40B4-BE49-F238E27FC236}">
                  <a16:creationId xmlns:a16="http://schemas.microsoft.com/office/drawing/2014/main" id="{1262DFCA-7921-1E9D-FFAD-CF868EDE4F87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" name="Google Shape;57;p13">
              <a:extLst>
                <a:ext uri="{FF2B5EF4-FFF2-40B4-BE49-F238E27FC236}">
                  <a16:creationId xmlns:a16="http://schemas.microsoft.com/office/drawing/2014/main" id="{DBE26203-76C9-B756-15E8-085325E08BAE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0479514-9AD7-C82B-363D-5EDB7AE18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537" y="1276169"/>
            <a:ext cx="3278652" cy="45103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398A56-CC10-379C-EF5B-5D7CEA5895E1}"/>
              </a:ext>
            </a:extLst>
          </p:cNvPr>
          <p:cNvSpPr txBox="1"/>
          <p:nvPr/>
        </p:nvSpPr>
        <p:spPr>
          <a:xfrm>
            <a:off x="3432934" y="5601818"/>
            <a:ext cx="334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일반화 능력 향상 </a:t>
            </a:r>
            <a:r>
              <a:rPr lang="en-US" altLang="ko-KR" b="1" dirty="0"/>
              <a:t>+</a:t>
            </a:r>
            <a:r>
              <a:rPr lang="ko-KR" altLang="en-US" b="1" dirty="0"/>
              <a:t> 간단한 구조</a:t>
            </a:r>
            <a:endParaRPr lang="en-KR" b="1" dirty="0"/>
          </a:p>
        </p:txBody>
      </p:sp>
    </p:spTree>
    <p:extLst>
      <p:ext uri="{BB962C8B-B14F-4D97-AF65-F5344CB8AC3E}">
        <p14:creationId xmlns:p14="http://schemas.microsoft.com/office/powerpoint/2010/main" val="275382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890FF-71A9-4C68-84B3-01C61518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A957-A9AC-2FE2-FDB3-5CA1DE714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34622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002060"/>
                </a:solidFill>
              </a:rPr>
              <a:t>연구 가설</a:t>
            </a:r>
            <a:endParaRPr lang="en-KR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993DC-2A71-6E23-60A1-B6A84820B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7048" y="1671784"/>
            <a:ext cx="10515600" cy="4927256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AutoNum type="arabicPeriod"/>
            </a:pPr>
            <a:r>
              <a:rPr lang="en-US" sz="2400" dirty="0">
                <a:latin typeface="+mn-ea"/>
              </a:rPr>
              <a:t>HVDR</a:t>
            </a:r>
            <a:r>
              <a:rPr lang="ko-KR" altLang="en-US" sz="2400" dirty="0">
                <a:latin typeface="+mn-ea"/>
              </a:rPr>
              <a:t>은 특히 </a:t>
            </a:r>
            <a:r>
              <a:rPr lang="ko-KR" altLang="en-US" sz="2400" b="1" u="sng" dirty="0">
                <a:latin typeface="+mn-ea"/>
              </a:rPr>
              <a:t>여러 도메인에 걸친 지식이 필요한 다단계 추론 </a:t>
            </a:r>
            <a:r>
              <a:rPr lang="ko-KR" altLang="en-US" sz="2400" dirty="0">
                <a:latin typeface="+mn-ea"/>
              </a:rPr>
              <a:t>질의에서 기존 </a:t>
            </a:r>
            <a:r>
              <a:rPr lang="en-US" sz="2400" dirty="0" err="1">
                <a:latin typeface="+mn-ea"/>
              </a:rPr>
              <a:t>GraphRAG</a:t>
            </a:r>
            <a:r>
              <a:rPr lang="ko-KR" altLang="en-US" sz="2400" dirty="0">
                <a:latin typeface="+mn-ea"/>
              </a:rPr>
              <a:t>의 전역 검색보다 더 빠르고 높은 정답율을 보일 것이다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514350" indent="-514350">
              <a:buAutoNum type="arabicPeriod"/>
            </a:pPr>
            <a:endParaRPr lang="en-US" altLang="ko-KR" sz="2400" dirty="0">
              <a:latin typeface="+mn-ea"/>
            </a:endParaRPr>
          </a:p>
          <a:p>
            <a:pPr marL="514350" indent="-514350">
              <a:buAutoNum type="arabicPeriod"/>
            </a:pPr>
            <a:endParaRPr lang="en-US" altLang="ko-KR" sz="2400" dirty="0">
              <a:latin typeface="+mn-ea"/>
            </a:endParaRPr>
          </a:p>
          <a:p>
            <a:pPr marL="514350" indent="-514350">
              <a:buAutoNum type="arabicPeriod"/>
            </a:pPr>
            <a:r>
              <a:rPr lang="ko-KR" altLang="en-US" sz="2400" b="1" u="sng" dirty="0"/>
              <a:t>학습된 가치 모델</a:t>
            </a:r>
            <a:r>
              <a:rPr lang="ko-KR" altLang="en-US" sz="2400" dirty="0"/>
              <a:t>을 통해 최적화된 에이전트는 환각 현상을 줄이고</a:t>
            </a:r>
            <a:r>
              <a:rPr lang="en-US" altLang="ko-KR" sz="2400" dirty="0"/>
              <a:t>, </a:t>
            </a:r>
            <a:r>
              <a:rPr lang="ko-KR" altLang="en-US" sz="2400" dirty="0"/>
              <a:t>더 완전한 답변을 생성할 것이다</a:t>
            </a:r>
            <a:r>
              <a:rPr lang="en-US" altLang="ko-KR" sz="2400" dirty="0"/>
              <a:t>.</a:t>
            </a:r>
            <a:endParaRPr lang="en-US" altLang="ko-KR" sz="2400" dirty="0">
              <a:latin typeface="+mn-ea"/>
            </a:endParaRPr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B2DFAD-A708-1FB2-4B60-0CD2069ACAC6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5" name="Google Shape;54;p13">
              <a:extLst>
                <a:ext uri="{FF2B5EF4-FFF2-40B4-BE49-F238E27FC236}">
                  <a16:creationId xmlns:a16="http://schemas.microsoft.com/office/drawing/2014/main" id="{33E0B151-E89F-78C5-43FE-0E3CB6CA1CA6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" name="Google Shape;56;p13">
              <a:extLst>
                <a:ext uri="{FF2B5EF4-FFF2-40B4-BE49-F238E27FC236}">
                  <a16:creationId xmlns:a16="http://schemas.microsoft.com/office/drawing/2014/main" id="{C510E668-C41C-DE4D-8FD4-3C4F11E7E8F0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" name="Google Shape;57;p13">
              <a:extLst>
                <a:ext uri="{FF2B5EF4-FFF2-40B4-BE49-F238E27FC236}">
                  <a16:creationId xmlns:a16="http://schemas.microsoft.com/office/drawing/2014/main" id="{6C91D62D-5D05-AF7C-804F-4E3D91CA804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45231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12079-D2F0-98DB-D240-07A95FF0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03415-9B27-E492-610D-93F836D73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6798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solidFill>
                  <a:srgbClr val="002060"/>
                </a:solidFill>
              </a:rPr>
              <a:t>감사합니다</a:t>
            </a:r>
            <a:endParaRPr lang="en-KR" sz="4000" b="1" dirty="0">
              <a:solidFill>
                <a:srgbClr val="00206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B44E50-3C73-5CFE-773C-CEC330CA933B}"/>
              </a:ext>
            </a:extLst>
          </p:cNvPr>
          <p:cNvGrpSpPr/>
          <p:nvPr/>
        </p:nvGrpSpPr>
        <p:grpSpPr>
          <a:xfrm>
            <a:off x="-12" y="-37950"/>
            <a:ext cx="1524012" cy="6895950"/>
            <a:chOff x="-12" y="-37950"/>
            <a:chExt cx="1181112" cy="5219400"/>
          </a:xfrm>
        </p:grpSpPr>
        <p:sp>
          <p:nvSpPr>
            <p:cNvPr id="6" name="Google Shape;54;p13">
              <a:extLst>
                <a:ext uri="{FF2B5EF4-FFF2-40B4-BE49-F238E27FC236}">
                  <a16:creationId xmlns:a16="http://schemas.microsoft.com/office/drawing/2014/main" id="{8296B82D-A8F4-21DA-9848-0FABBF139C58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</a:t>
              </a: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" name="Google Shape;56;p13">
              <a:extLst>
                <a:ext uri="{FF2B5EF4-FFF2-40B4-BE49-F238E27FC236}">
                  <a16:creationId xmlns:a16="http://schemas.microsoft.com/office/drawing/2014/main" id="{E8FBF895-8F28-B63E-A129-7524EACED7FE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8" name="Google Shape;57;p13">
              <a:extLst>
                <a:ext uri="{FF2B5EF4-FFF2-40B4-BE49-F238E27FC236}">
                  <a16:creationId xmlns:a16="http://schemas.microsoft.com/office/drawing/2014/main" id="{7E5CB545-8FF8-3214-48AE-F109A8E5EEB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0516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298</Words>
  <Application>Microsoft Macintosh PowerPoint</Application>
  <PresentationFormat>Widescreen</PresentationFormat>
  <Paragraphs>66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맑은 고딕</vt:lpstr>
      <vt:lpstr>Aptos</vt:lpstr>
      <vt:lpstr>Aptos Display</vt:lpstr>
      <vt:lpstr>Arial</vt:lpstr>
      <vt:lpstr>Office Theme</vt:lpstr>
      <vt:lpstr>CUAI NLP Research 1팀</vt:lpstr>
      <vt:lpstr>팀 소개</vt:lpstr>
      <vt:lpstr>연구 개요</vt:lpstr>
      <vt:lpstr>연구 진행 상황 1 - 단기적 목표 설정</vt:lpstr>
      <vt:lpstr>연구 진행 상황 1 - 단기적 목표 설정</vt:lpstr>
      <vt:lpstr>연구 진행 상황 2 – 교수님 면담</vt:lpstr>
      <vt:lpstr>연구 진행 상황 3 - TRM</vt:lpstr>
      <vt:lpstr>연구 가설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승준 차</dc:creator>
  <cp:lastModifiedBy>승준 차</cp:lastModifiedBy>
  <cp:revision>28</cp:revision>
  <dcterms:created xsi:type="dcterms:W3CDTF">2025-09-22T02:27:31Z</dcterms:created>
  <dcterms:modified xsi:type="dcterms:W3CDTF">2025-10-28T06:20:10Z</dcterms:modified>
</cp:coreProperties>
</file>