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72" r:id="rId4"/>
    <p:sldId id="273" r:id="rId5"/>
    <p:sldId id="275" r:id="rId6"/>
    <p:sldId id="274" r:id="rId7"/>
    <p:sldId id="276" r:id="rId8"/>
    <p:sldId id="277" r:id="rId9"/>
    <p:sldId id="278" r:id="rId10"/>
    <p:sldId id="279" r:id="rId11"/>
    <p:sldId id="261" r:id="rId12"/>
  </p:sldIdLst>
  <p:sldSz cx="9144000" cy="5143500" type="screen16x9"/>
  <p:notesSz cx="6858000" cy="9144000"/>
  <p:embeddedFontLst>
    <p:embeddedFont>
      <p:font typeface="NanumGothic" panose="020D0604000000000000" pitchFamily="34" charset="-127"/>
      <p:regular r:id="rId14"/>
      <p:bold r:id="rId15"/>
    </p:embeddedFont>
    <p:embeddedFont>
      <p:font typeface="나눔바른고딕" panose="020B0603020101020101" pitchFamily="34" charset="-127"/>
      <p:regular r:id="rId16"/>
      <p:bold r:id="rId17"/>
    </p:embeddedFont>
    <p:embeddedFont>
      <p:font typeface="NanumGothic ExtraBold" panose="020D0604000000000000" pitchFamily="34" charset="-127"/>
      <p:bold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CCE0"/>
    <a:srgbClr val="A1ADCB"/>
    <a:srgbClr val="43568B"/>
    <a:srgbClr val="6A738C"/>
    <a:srgbClr val="212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37"/>
  </p:normalViewPr>
  <p:slideViewPr>
    <p:cSldViewPr snapToGrid="0">
      <p:cViewPr varScale="1">
        <p:scale>
          <a:sx n="117" d="100"/>
          <a:sy n="117" d="100"/>
        </p:scale>
        <p:origin x="176" y="5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02E7100-3170-DE37-8F14-C61D34760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08D8E16E-7577-10A4-7812-74591EC1A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6A2490AF-F2A8-E6A9-9308-3946A669F8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8986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2732502-1B50-1787-7E08-31C56C8DC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E9B81FA-C727-B69E-B0E6-B2F19F0C88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717752B0-3EDE-66BF-7973-C89313150A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30542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D40E27C-24AA-2FAE-CD3F-DE1E48F77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A39A00E-FF38-FB87-24DB-EA7B4F270A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278DDCB-1895-8D78-9656-B5F5CA721B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1680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13F25B4-529D-75F1-8C0B-B804B165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E576DDBC-87D6-5C90-6198-E6F9EB4698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0117AF30-3EB0-6E5C-A18E-7AF16F39F1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398799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83AE698-0F22-6C2F-958D-4595A0DE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22AEC9FF-5F77-1738-EE42-299B78419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F5F5AF54-3F70-7632-EF3A-D3149B2429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3347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2A89AB8-1CF7-2B1D-0D9A-8DDEC7819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821FB9B8-2BFF-CE3B-6E5D-E69A42FB3E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84751BB-9100-CABE-0BDE-0FBC41A067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593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335E39B-624B-D442-7B31-437B32FD3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71A628B6-FB08-75B5-9CBF-3EBA085EF3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58F5F60F-8747-BFDC-DEF5-CAF6ADF4FC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89118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95FE57E-7959-FB40-D883-711A919BB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>
            <a:extLst>
              <a:ext uri="{FF2B5EF4-FFF2-40B4-BE49-F238E27FC236}">
                <a16:creationId xmlns:a16="http://schemas.microsoft.com/office/drawing/2014/main" id="{656E838E-68CA-C9E6-7CFA-856E8B7DF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>
            <a:extLst>
              <a:ext uri="{FF2B5EF4-FFF2-40B4-BE49-F238E27FC236}">
                <a16:creationId xmlns:a16="http://schemas.microsoft.com/office/drawing/2014/main" id="{9BABD58B-9A53-CDF4-8B0F-2405FB5CE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978462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D4A342E1-786B-B7AB-503B-6FBE2926D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CE24EC1-777F-734B-402F-5DCDC84B8D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7896FB6B-6E78-AD1D-9E55-C7FECE67D0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7499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/>
              <a:t>T</a:t>
            </a:r>
            <a:endParaRPr dirty="0"/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568745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</a:rPr>
              <a:t>Research. MM 2</a:t>
            </a:r>
            <a:r>
              <a:rPr lang="ko-KR" altLang="en-US" sz="2500" b="1" dirty="0">
                <a:solidFill>
                  <a:srgbClr val="19264B"/>
                </a:solidFill>
              </a:rPr>
              <a:t>팀</a:t>
            </a:r>
            <a:endParaRPr sz="2500" b="1"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</a:rPr>
              <a:t>202</a:t>
            </a:r>
            <a:r>
              <a:rPr lang="en-US" altLang="ko" dirty="0">
                <a:solidFill>
                  <a:srgbClr val="19264B"/>
                </a:solidFill>
              </a:rPr>
              <a:t>5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11</a:t>
            </a:r>
            <a:r>
              <a:rPr lang="ko" dirty="0">
                <a:solidFill>
                  <a:srgbClr val="19264B"/>
                </a:solidFill>
              </a:rPr>
              <a:t>.</a:t>
            </a:r>
            <a:r>
              <a:rPr lang="en-US" altLang="ko-KR" dirty="0">
                <a:solidFill>
                  <a:srgbClr val="19264B"/>
                </a:solidFill>
              </a:rPr>
              <a:t>04</a:t>
            </a: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</a:rPr>
              <a:t>발표자 : </a:t>
            </a:r>
            <a:r>
              <a:rPr lang="ko-KR" altLang="en-US" sz="1100" dirty="0">
                <a:solidFill>
                  <a:srgbClr val="19264B"/>
                </a:solidFill>
              </a:rPr>
              <a:t>김성민</a:t>
            </a:r>
            <a:endParaRPr sz="1100" dirty="0">
              <a:solidFill>
                <a:srgbClr val="19264B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동아리원</a:t>
            </a:r>
            <a:r>
              <a:rPr lang="ko" sz="2000" b="1" dirty="0">
                <a:solidFill>
                  <a:srgbClr val="19264B"/>
                </a:solidFill>
                <a:latin typeface="+mj-lt"/>
                <a:ea typeface="나눔바른고딕" panose="020B0603020101020101" pitchFamily="50" charset="-127"/>
                <a:cs typeface="NanumGothic ExtraBold"/>
                <a:sym typeface="NanumGothic ExtraBold"/>
              </a:rPr>
              <a:t> 소개 및 만남 인증</a:t>
            </a:r>
            <a:endParaRPr sz="2000" b="1" dirty="0">
              <a:solidFill>
                <a:srgbClr val="19264B"/>
              </a:solidFill>
              <a:latin typeface="+mj-lt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790746" y="1733039"/>
            <a:ext cx="2282100" cy="126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1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김성민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2 : </a:t>
            </a:r>
            <a:r>
              <a:rPr lang="ko-KR" altLang="en-US" dirty="0" err="1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남승운</a:t>
            </a:r>
            <a:r>
              <a:rPr lang="en-US" altLang="ko-KR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	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스터디원 3 : </a:t>
            </a:r>
            <a:r>
              <a:rPr lang="ko-KR" altLang="en-US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황민아</a:t>
            </a:r>
            <a:endParaRPr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8F8E9C6-3AE8-8063-6E5A-BCB07B648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6A073FAF-503B-DE85-F64A-1F1CA0DC22E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F317D448-6716-35EC-1342-6E2A13E4A9E3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52C60277-C55E-1127-51E0-A8DFEC9D00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1DFAE15-8B65-DAAF-4090-3E5991D03B9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연구</a:t>
            </a:r>
            <a:r>
              <a:rPr lang="en-US" altLang="ko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 </a:t>
            </a:r>
            <a:r>
              <a:rPr lang="ko-KR" altLang="en-US" sz="2000" b="1" dirty="0">
                <a:solidFill>
                  <a:srgbClr val="19264B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NanumGothic ExtraBold"/>
                <a:sym typeface="NanumGothic ExtraBold"/>
              </a:rPr>
              <a:t>주제</a:t>
            </a:r>
            <a:endParaRPr sz="2000" b="1" dirty="0">
              <a:solidFill>
                <a:srgbClr val="19264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6E210583-6ADB-9BB9-B302-FF231613A70D}"/>
              </a:ext>
            </a:extLst>
          </p:cNvPr>
          <p:cNvSpPr txBox="1"/>
          <p:nvPr/>
        </p:nvSpPr>
        <p:spPr>
          <a:xfrm>
            <a:off x="1545560" y="845454"/>
            <a:ext cx="7049225" cy="1989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“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한국어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GQA 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데이터셋 기반으로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VLM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 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Hard task(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복합 위치 추론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)</a:t>
            </a:r>
            <a:r>
              <a:rPr lang="ko-KR" altLang="en-US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에서 높은 성능을 내도록 모델 개선과 평가 체계를 구축</a:t>
            </a:r>
            <a:r>
              <a:rPr lang="en-US" altLang="ko-KR" sz="18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.”</a:t>
            </a: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0735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9722044-57F9-A59A-BCBE-B95DBC14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F6616C6-8102-FA62-B17B-6339568719BD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BC896ED-1509-CD3B-0DF5-316D9BACE1F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10C6B9E-3EE6-92C7-864F-4D0CF53903B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5B7E43E-367D-8B8F-F3D2-F1708093CD6D}"/>
              </a:ext>
            </a:extLst>
          </p:cNvPr>
          <p:cNvSpPr txBox="1"/>
          <p:nvPr/>
        </p:nvSpPr>
        <p:spPr>
          <a:xfrm>
            <a:off x="1320437" y="152142"/>
            <a:ext cx="704307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Vison-Language Model(VLM)</a:t>
            </a:r>
            <a:r>
              <a:rPr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에서 </a:t>
            </a:r>
            <a:r>
              <a:rPr lang="en-US" altLang="ko-KR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positional encoding</a:t>
            </a:r>
            <a:r>
              <a:rPr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이 어려운 이유에 대해서 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73C7029D-F0E9-EDB9-CEB4-6E6D0CDAF518}"/>
              </a:ext>
            </a:extLst>
          </p:cNvPr>
          <p:cNvSpPr txBox="1"/>
          <p:nvPr/>
        </p:nvSpPr>
        <p:spPr>
          <a:xfrm>
            <a:off x="1485174" y="3288599"/>
            <a:ext cx="6878333" cy="340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600" dirty="0" err="1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Experiement</a:t>
            </a: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 Result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Data Scaling </a:t>
            </a:r>
            <a:r>
              <a:rPr lang="ko-KR" altLang="en-US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한계 </a:t>
            </a: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Vison</a:t>
            </a:r>
            <a:r>
              <a:rPr lang="ko-KR" altLang="en-US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 </a:t>
            </a: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Encoding</a:t>
            </a:r>
            <a:r>
              <a:rPr lang="ko-KR" altLang="en-US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의 의존적</a:t>
            </a: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Reasoning Injection </a:t>
            </a:r>
            <a:r>
              <a:rPr lang="ko-KR" altLang="en-US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효과 차이</a:t>
            </a: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ko-KR" altLang="en-US" sz="1600" dirty="0">
                <a:solidFill>
                  <a:schemeClr val="tx1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구조적 병목 현상</a:t>
            </a: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3D67C2-DBF0-1113-5258-47FE06B4A1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8133" y="1132708"/>
            <a:ext cx="6051107" cy="2020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59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FEC0E946-8B61-3B32-C0D3-2E157342E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BF7E75D-52D2-892E-E410-4B048D5DC33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8DF13E68-4FB5-C0F5-1A8E-6E7889776DF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E29F3870-1716-C201-171D-82978FF2DF5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5F3F4DC6-4716-683F-0424-1F3C2DEF900E}"/>
              </a:ext>
            </a:extLst>
          </p:cNvPr>
          <p:cNvSpPr txBox="1"/>
          <p:nvPr/>
        </p:nvSpPr>
        <p:spPr>
          <a:xfrm>
            <a:off x="1320437" y="152142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어떤 </a:t>
            </a:r>
            <a:r>
              <a:rPr lang="ko-KR" altLang="en-US" sz="2000" b="1" dirty="0">
                <a:solidFill>
                  <a:srgbClr val="FF0000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문제</a:t>
            </a:r>
            <a:r>
              <a:rPr lang="ko-KR" alt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가 있나</a:t>
            </a:r>
            <a:r>
              <a:rPr lang="en-US" altLang="ko-KR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?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73009447-BC76-EE8D-2D04-CF976624181D}"/>
              </a:ext>
            </a:extLst>
          </p:cNvPr>
          <p:cNvSpPr txBox="1"/>
          <p:nvPr/>
        </p:nvSpPr>
        <p:spPr>
          <a:xfrm>
            <a:off x="1624511" y="3098955"/>
            <a:ext cx="6878333" cy="3479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1600" dirty="0">
                <a:solidFill>
                  <a:schemeClr val="bg2"/>
                </a:solidFill>
                <a:latin typeface="NanumGothic" panose="020D0604000000000000" pitchFamily="34" charset="-127"/>
                <a:ea typeface="NanumGothic" panose="020D0604000000000000" pitchFamily="34" charset="-127"/>
                <a:sym typeface="NanumGothic ExtraBold"/>
              </a:rPr>
              <a:t>Problem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Bag of Token </a:t>
            </a:r>
            <a:r>
              <a:rPr lang="ko-KR" altLang="en-US" dirty="0">
                <a:solidFill>
                  <a:schemeClr val="tx1"/>
                </a:solidFill>
              </a:rPr>
              <a:t>현상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Embedding Norm Suppression</a:t>
            </a: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Cross-modal Fusion</a:t>
            </a:r>
            <a:r>
              <a:rPr lang="ko-KR" altLang="en-US" dirty="0">
                <a:solidFill>
                  <a:schemeClr val="tx1"/>
                </a:solidFill>
              </a:rPr>
              <a:t>에서 정보 손실</a:t>
            </a:r>
            <a:endParaRPr lang="en-US" altLang="ko-KR" dirty="0">
              <a:solidFill>
                <a:schemeClr val="tx1"/>
              </a:solidFill>
            </a:endParaRP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Vision Encoder</a:t>
            </a:r>
            <a:r>
              <a:rPr lang="ko-KR" altLang="en-US" dirty="0">
                <a:solidFill>
                  <a:schemeClr val="tx1"/>
                </a:solidFill>
              </a:rPr>
              <a:t>의 마지막 레이어 한계</a:t>
            </a: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4E864B1-2B71-E5D0-913F-41C304325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359" y="152142"/>
            <a:ext cx="4796485" cy="279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851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A5873AB-10A9-453E-3E51-0150F9CA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717FCD10-18AD-0E30-88A5-22018480F52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5D405525-782E-6CB2-E5C4-2CCAC3751CF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44332328-36FE-237F-800B-223F0A5DE3C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8BB78986-801E-1806-99B4-0E083D11D6A3}"/>
              </a:ext>
            </a:extLst>
          </p:cNvPr>
          <p:cNvSpPr txBox="1"/>
          <p:nvPr/>
        </p:nvSpPr>
        <p:spPr>
          <a:xfrm>
            <a:off x="1320437" y="108598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Solution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A990E6EB-73E1-F47D-735B-FB03BB08693A}"/>
              </a:ext>
            </a:extLst>
          </p:cNvPr>
          <p:cNvSpPr txBox="1"/>
          <p:nvPr/>
        </p:nvSpPr>
        <p:spPr>
          <a:xfrm>
            <a:off x="1485174" y="1664116"/>
            <a:ext cx="6878333" cy="39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RMS Normalization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ko-KR" altLang="en-US" b="1" dirty="0">
                <a:solidFill>
                  <a:schemeClr val="tx1"/>
                </a:solidFill>
              </a:rPr>
              <a:t>중간 계층</a:t>
            </a:r>
            <a:r>
              <a:rPr lang="en-US" altLang="ko-KR" b="1" dirty="0">
                <a:solidFill>
                  <a:schemeClr val="tx1"/>
                </a:solidFill>
              </a:rPr>
              <a:t>(intermediate layer) </a:t>
            </a:r>
            <a:r>
              <a:rPr lang="ko-KR" altLang="en-US" b="1" dirty="0" err="1">
                <a:solidFill>
                  <a:schemeClr val="tx1"/>
                </a:solidFill>
              </a:rPr>
              <a:t>임베딩</a:t>
            </a:r>
            <a:r>
              <a:rPr lang="ko-KR" altLang="en-US" b="1" dirty="0">
                <a:solidFill>
                  <a:schemeClr val="tx1"/>
                </a:solidFill>
              </a:rPr>
              <a:t> 활용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b="1" dirty="0">
                <a:solidFill>
                  <a:schemeClr val="tx1"/>
                </a:solidFill>
              </a:rPr>
              <a:t>2D-aware fusion </a:t>
            </a:r>
            <a:r>
              <a:rPr lang="ko-KR" altLang="en-US" b="1" dirty="0">
                <a:solidFill>
                  <a:schemeClr val="tx1"/>
                </a:solidFill>
              </a:rPr>
              <a:t>구조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b="1" dirty="0">
                <a:solidFill>
                  <a:schemeClr val="tx1"/>
                </a:solidFill>
              </a:rPr>
              <a:t>Implicit reasoning + Multi-view consistency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90693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112FCE9-7AA8-7164-DAC6-23A510E6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145937DF-11C2-8915-49EA-07B722CA2F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C83DF101-173D-727F-0525-EA573A8806C0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5FA7FB64-363A-0B89-A71E-E9CA3132A11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3F73763D-2F88-750E-4D36-E8E8199C741C}"/>
              </a:ext>
            </a:extLst>
          </p:cNvPr>
          <p:cNvSpPr txBox="1"/>
          <p:nvPr/>
        </p:nvSpPr>
        <p:spPr>
          <a:xfrm>
            <a:off x="1320437" y="108598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en-US" altLang="ko-KR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Solution</a:t>
            </a:r>
            <a:endParaRPr sz="32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402A391A-8EAB-7262-B76B-42D8A0FD75DE}"/>
              </a:ext>
            </a:extLst>
          </p:cNvPr>
          <p:cNvSpPr txBox="1"/>
          <p:nvPr/>
        </p:nvSpPr>
        <p:spPr>
          <a:xfrm>
            <a:off x="1485174" y="1664116"/>
            <a:ext cx="6878333" cy="3974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dirty="0">
                <a:solidFill>
                  <a:schemeClr val="tx1"/>
                </a:solidFill>
              </a:rPr>
              <a:t>RMS Normalization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ko-KR" altLang="en-US" b="1" dirty="0">
                <a:solidFill>
                  <a:srgbClr val="FF0000"/>
                </a:solidFill>
              </a:rPr>
              <a:t>중간 계층</a:t>
            </a:r>
            <a:r>
              <a:rPr lang="en-US" altLang="ko-KR" b="1" dirty="0">
                <a:solidFill>
                  <a:srgbClr val="FF0000"/>
                </a:solidFill>
              </a:rPr>
              <a:t>(intermediate layer) </a:t>
            </a:r>
            <a:r>
              <a:rPr lang="ko-KR" altLang="en-US" b="1" dirty="0" err="1">
                <a:solidFill>
                  <a:srgbClr val="FF0000"/>
                </a:solidFill>
              </a:rPr>
              <a:t>임베딩</a:t>
            </a:r>
            <a:r>
              <a:rPr lang="ko-KR" altLang="en-US" b="1" dirty="0">
                <a:solidFill>
                  <a:srgbClr val="FF0000"/>
                </a:solidFill>
              </a:rPr>
              <a:t> 활용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b="1" dirty="0">
                <a:solidFill>
                  <a:schemeClr val="tx1"/>
                </a:solidFill>
              </a:rPr>
              <a:t>2D-aware fusion </a:t>
            </a:r>
            <a:r>
              <a:rPr lang="ko-KR" altLang="en-US" b="1" dirty="0">
                <a:solidFill>
                  <a:schemeClr val="tx1"/>
                </a:solidFill>
              </a:rPr>
              <a:t>구조</a:t>
            </a:r>
            <a:endParaRPr lang="en-US" altLang="ko-KR" b="1" dirty="0">
              <a:solidFill>
                <a:schemeClr val="tx1"/>
              </a:solidFill>
            </a:endParaRPr>
          </a:p>
          <a:p>
            <a:pPr marL="514350" indent="-514350">
              <a:lnSpc>
                <a:spcPct val="115000"/>
              </a:lnSpc>
              <a:buFont typeface="Arial"/>
              <a:buAutoNum type="arabicParenR"/>
            </a:pPr>
            <a:r>
              <a:rPr lang="en-US" altLang="ko-KR" b="1" dirty="0">
                <a:solidFill>
                  <a:schemeClr val="tx1"/>
                </a:solidFill>
              </a:rPr>
              <a:t>Implicit reasoning + Multi-view consistency</a:t>
            </a:r>
            <a:endParaRPr lang="en-US" altLang="ko-KR" dirty="0">
              <a:solidFill>
                <a:schemeClr val="tx1"/>
              </a:solidFill>
            </a:endParaRPr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40005511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C4B15D1-107F-6806-87C2-B9B93EFCC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87C4D92-BF09-BD73-B563-29D511F6BAB6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44EE6C9F-A090-9252-74DE-79ABE687087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B7802B8A-BDCF-FB73-82EF-B68D9130639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EB458D9-94A7-6757-76E3-6EBFC836681A}"/>
              </a:ext>
            </a:extLst>
          </p:cNvPr>
          <p:cNvSpPr txBox="1"/>
          <p:nvPr/>
        </p:nvSpPr>
        <p:spPr>
          <a:xfrm>
            <a:off x="1320437" y="108598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중간 계층이 공간적 특징 보존에 더 유리한 이유</a:t>
            </a:r>
            <a:endParaRPr lang="en-US" altLang="ko-KR" sz="20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E97BDA82-772A-7451-D5ED-C08C11D78404}"/>
              </a:ext>
            </a:extLst>
          </p:cNvPr>
          <p:cNvSpPr txBox="1"/>
          <p:nvPr/>
        </p:nvSpPr>
        <p:spPr>
          <a:xfrm>
            <a:off x="1485174" y="758752"/>
            <a:ext cx="6878333" cy="276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5FBB2AB2-0C32-128E-6622-257A32B1BE0A}"/>
              </a:ext>
            </a:extLst>
          </p:cNvPr>
          <p:cNvSpPr txBox="1"/>
          <p:nvPr/>
        </p:nvSpPr>
        <p:spPr>
          <a:xfrm>
            <a:off x="1485174" y="1055550"/>
            <a:ext cx="7485951" cy="375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ko-KR" altLang="en-US" b="1" dirty="0"/>
              <a:t>초기</a:t>
            </a:r>
            <a:r>
              <a:rPr lang="en-US" altLang="ko-KR" b="1" dirty="0"/>
              <a:t>~</a:t>
            </a:r>
            <a:r>
              <a:rPr lang="ko-KR" altLang="en-US" b="1" dirty="0"/>
              <a:t>중간 계층은 “지역</a:t>
            </a:r>
            <a:r>
              <a:rPr lang="en-US" altLang="ko-KR" b="1" dirty="0"/>
              <a:t>(Local)” </a:t>
            </a:r>
            <a:r>
              <a:rPr lang="ko-KR" altLang="en-US" b="1" dirty="0"/>
              <a:t>정보 중심</a:t>
            </a:r>
            <a:r>
              <a:rPr lang="en-US" altLang="ko-KR" b="1" dirty="0"/>
              <a:t>, </a:t>
            </a:r>
            <a:r>
              <a:rPr lang="ko-KR" altLang="en-US" b="1" dirty="0"/>
              <a:t>최종 계층은 “전역</a:t>
            </a:r>
            <a:r>
              <a:rPr lang="en-US" altLang="ko-KR" b="1" dirty="0"/>
              <a:t>(Global)” </a:t>
            </a:r>
            <a:r>
              <a:rPr lang="ko-KR" altLang="en-US" b="1" dirty="0"/>
              <a:t>정보 중심</a:t>
            </a:r>
            <a:endParaRPr lang="en-US" altLang="ko-KR" b="1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en-US" altLang="ko-KR" b="1" dirty="0"/>
              <a:t>Self-Attention</a:t>
            </a:r>
            <a:r>
              <a:rPr lang="ko-KR" altLang="en-US" b="1" dirty="0"/>
              <a:t>의 </a:t>
            </a:r>
            <a:r>
              <a:rPr lang="en-US" altLang="ko-KR" b="1" dirty="0"/>
              <a:t>receptive field </a:t>
            </a:r>
            <a:r>
              <a:rPr lang="ko-KR" altLang="en-US" b="1" dirty="0"/>
              <a:t>확장 효과</a:t>
            </a:r>
            <a:endParaRPr lang="en-US" altLang="ko-KR" b="1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r>
              <a:rPr lang="ko-KR" altLang="en-US" b="1" dirty="0" err="1"/>
              <a:t>포지셔널</a:t>
            </a:r>
            <a:r>
              <a:rPr lang="ko-KR" altLang="en-US" b="1" dirty="0"/>
              <a:t> 인코딩</a:t>
            </a:r>
            <a:r>
              <a:rPr lang="en-US" altLang="ko-KR" b="1" dirty="0"/>
              <a:t>(Positional Encoding)</a:t>
            </a:r>
            <a:r>
              <a:rPr lang="ko-KR" altLang="en-US" b="1" dirty="0"/>
              <a:t>의 영향 희석</a:t>
            </a:r>
            <a:endParaRPr lang="en-US" altLang="ko-KR" b="1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596161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8F292D9-42A9-F378-A7E5-904D975AE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F61A5A54-D26C-546A-4738-EBEEF1C5362A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4B307C1-A645-A7B8-9343-8C503615E11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D4BED9E5-A624-9258-9390-7FF2A65EF54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0E79E315-590D-3B7B-50EF-201E7E15183F}"/>
              </a:ext>
            </a:extLst>
          </p:cNvPr>
          <p:cNvSpPr txBox="1"/>
          <p:nvPr/>
        </p:nvSpPr>
        <p:spPr>
          <a:xfrm>
            <a:off x="1353975" y="269211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주제 변경</a:t>
            </a:r>
            <a:endParaRPr lang="en-US" altLang="ko-KR" sz="20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4060A089-5586-1B58-CBD8-6AE3A5BBCE18}"/>
              </a:ext>
            </a:extLst>
          </p:cNvPr>
          <p:cNvSpPr txBox="1"/>
          <p:nvPr/>
        </p:nvSpPr>
        <p:spPr>
          <a:xfrm>
            <a:off x="1485174" y="758752"/>
            <a:ext cx="6878333" cy="276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8186706B-0279-4AFF-6466-C860FFF2B5F4}"/>
              </a:ext>
            </a:extLst>
          </p:cNvPr>
          <p:cNvSpPr txBox="1"/>
          <p:nvPr/>
        </p:nvSpPr>
        <p:spPr>
          <a:xfrm>
            <a:off x="1485174" y="1055550"/>
            <a:ext cx="7485951" cy="3405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r>
              <a:rPr lang="en-US" altLang="ko-KR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Vision </a:t>
            </a:r>
            <a:r>
              <a:rPr lang="en-US" altLang="ko-KR" sz="1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Endoder</a:t>
            </a:r>
            <a:r>
              <a:rPr lang="en-US" altLang="ko-KR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중간 계층 </a:t>
            </a:r>
            <a:r>
              <a:rPr lang="ko-KR" altLang="en-US" sz="1800" b="1" dirty="0" err="1">
                <a:latin typeface="NanumGothic" panose="020D0604000000000000" pitchFamily="34" charset="-127"/>
                <a:ea typeface="NanumGothic" panose="020D0604000000000000" pitchFamily="34" charset="-127"/>
              </a:rPr>
              <a:t>임베딩을</a:t>
            </a:r>
            <a:r>
              <a:rPr lang="ko-KR" altLang="en-US" sz="1800" b="1" dirty="0">
                <a:latin typeface="NanumGothic" panose="020D0604000000000000" pitchFamily="34" charset="-127"/>
                <a:ea typeface="NanumGothic" panose="020D0604000000000000" pitchFamily="34" charset="-127"/>
              </a:rPr>
              <a:t> 효과적으로 선택하여 공간정보 손실을 최소화하고 위치 추론의 성능을 확보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68789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075886E-B45D-75DC-C4CF-4DDA2B11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B15CB85-ECB3-C451-FB72-ACDD8D5F2B0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3" name="Google Shape;63;p14">
            <a:extLst>
              <a:ext uri="{FF2B5EF4-FFF2-40B4-BE49-F238E27FC236}">
                <a16:creationId xmlns:a16="http://schemas.microsoft.com/office/drawing/2014/main" id="{DF1C40E9-C880-666E-BF95-E1420EBC203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>
            <a:extLst>
              <a:ext uri="{FF2B5EF4-FFF2-40B4-BE49-F238E27FC236}">
                <a16:creationId xmlns:a16="http://schemas.microsoft.com/office/drawing/2014/main" id="{7D594297-041B-1B42-3958-0909F55B5F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>
            <a:extLst>
              <a:ext uri="{FF2B5EF4-FFF2-40B4-BE49-F238E27FC236}">
                <a16:creationId xmlns:a16="http://schemas.microsoft.com/office/drawing/2014/main" id="{E981CADD-8C0A-65BC-54D1-5DB80585149E}"/>
              </a:ext>
            </a:extLst>
          </p:cNvPr>
          <p:cNvSpPr txBox="1"/>
          <p:nvPr/>
        </p:nvSpPr>
        <p:spPr>
          <a:xfrm>
            <a:off x="1353975" y="269211"/>
            <a:ext cx="704307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r>
              <a:rPr lang="ko-KR" altLang="en-US" sz="2000" b="1" dirty="0">
                <a:solidFill>
                  <a:srgbClr val="19264B"/>
                </a:solidFill>
                <a:latin typeface="NanumGothic" panose="020D0604000000000000" pitchFamily="34" charset="-127"/>
                <a:ea typeface="NanumGothic" panose="020D0604000000000000" pitchFamily="34" charset="-127"/>
                <a:cs typeface="NanumGothic ExtraBold"/>
                <a:sym typeface="NanumGothic ExtraBold"/>
              </a:rPr>
              <a:t>이후 계획</a:t>
            </a:r>
            <a:endParaRPr lang="en-US" altLang="ko-KR" sz="2000" b="1" dirty="0">
              <a:solidFill>
                <a:srgbClr val="19264B"/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6;p14">
            <a:extLst>
              <a:ext uri="{FF2B5EF4-FFF2-40B4-BE49-F238E27FC236}">
                <a16:creationId xmlns:a16="http://schemas.microsoft.com/office/drawing/2014/main" id="{BDC7BAFA-3541-3ED0-D039-EC1D20D4A426}"/>
              </a:ext>
            </a:extLst>
          </p:cNvPr>
          <p:cNvSpPr txBox="1"/>
          <p:nvPr/>
        </p:nvSpPr>
        <p:spPr>
          <a:xfrm>
            <a:off x="1485174" y="758752"/>
            <a:ext cx="6878333" cy="2768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B40B82DC-D1CE-AC8D-298F-EEA1EA4C40C7}"/>
              </a:ext>
            </a:extLst>
          </p:cNvPr>
          <p:cNvSpPr txBox="1"/>
          <p:nvPr/>
        </p:nvSpPr>
        <p:spPr>
          <a:xfrm>
            <a:off x="1485174" y="1055550"/>
            <a:ext cx="7485951" cy="3599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115000"/>
              </a:lnSpc>
            </a:pPr>
            <a:endParaRPr lang="en-US" altLang="ko-KR" sz="1600" dirty="0">
              <a:solidFill>
                <a:schemeClr val="tx1"/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marL="285750" indent="-285750">
              <a:buFontTx/>
              <a:buChar char="-"/>
            </a:pPr>
            <a:r>
              <a:rPr lang="en-US" altLang="ko-KR" sz="1800" dirty="0"/>
              <a:t>Base model </a:t>
            </a:r>
            <a:r>
              <a:rPr lang="ko-KR" altLang="en-US" sz="1800" dirty="0"/>
              <a:t>선정</a:t>
            </a:r>
            <a:endParaRPr lang="en-US" altLang="ko-KR" sz="1800" dirty="0"/>
          </a:p>
          <a:p>
            <a:pPr marL="285750" indent="-285750">
              <a:buFontTx/>
              <a:buChar char="-"/>
            </a:pPr>
            <a:r>
              <a:rPr lang="ko-KR" altLang="en-US" sz="1800" dirty="0"/>
              <a:t>중간 </a:t>
            </a:r>
            <a:r>
              <a:rPr lang="en-US" altLang="ko-KR" sz="1800" dirty="0"/>
              <a:t>layer </a:t>
            </a:r>
            <a:r>
              <a:rPr lang="ko-KR" altLang="en-US" sz="1800" dirty="0"/>
              <a:t>추출하고 시각화</a:t>
            </a:r>
          </a:p>
          <a:p>
            <a:r>
              <a:rPr lang="en-US" altLang="ko-KR" sz="1800" dirty="0"/>
              <a:t>-</a:t>
            </a:r>
            <a:r>
              <a:rPr lang="ko-KR" altLang="en-US" sz="1800" dirty="0"/>
              <a:t>   최적의 중간 </a:t>
            </a:r>
            <a:r>
              <a:rPr lang="en-US" altLang="ko-KR" sz="1800" dirty="0"/>
              <a:t>layer </a:t>
            </a:r>
            <a:r>
              <a:rPr lang="ko-KR" altLang="en-US" sz="1800" dirty="0"/>
              <a:t>탐색 최적화</a:t>
            </a:r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b="1" dirty="0"/>
          </a:p>
          <a:p>
            <a:pPr>
              <a:lnSpc>
                <a:spcPct val="115000"/>
              </a:lnSpc>
            </a:pPr>
            <a:endParaRPr lang="ko-KR" altLang="en-US" dirty="0"/>
          </a:p>
          <a:p>
            <a:pPr marL="514350" lvl="0" indent="-514350">
              <a:lnSpc>
                <a:spcPct val="115000"/>
              </a:lnSpc>
              <a:buAutoNum type="arabicParenR"/>
            </a:pPr>
            <a:endParaRPr lang="en-US" altLang="ko-KR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lang="en-US" altLang="ko-KR" sz="1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lvl="0">
              <a:lnSpc>
                <a:spcPct val="115000"/>
              </a:lnSpc>
            </a:pPr>
            <a:endParaRPr lang="en-US"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  <a:p>
            <a:pPr lvl="0">
              <a:lnSpc>
                <a:spcPct val="115000"/>
              </a:lnSpc>
            </a:pPr>
            <a:endParaRPr sz="28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1571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E0F54809-D650-C4DF-7EE4-F44E0B481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B775852-1155-B97D-EF57-DFE65159CA21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52188EA-7BD3-DCFA-B87B-7B4B0226AFC2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0522869-B24F-128B-864B-4D9C926DB20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>
            <a:extLst>
              <a:ext uri="{FF2B5EF4-FFF2-40B4-BE49-F238E27FC236}">
                <a16:creationId xmlns:a16="http://schemas.microsoft.com/office/drawing/2014/main" id="{FABA7F94-F950-BFBF-393C-32373EB2CCEC}"/>
              </a:ext>
            </a:extLst>
          </p:cNvPr>
          <p:cNvSpPr txBox="1"/>
          <p:nvPr/>
        </p:nvSpPr>
        <p:spPr>
          <a:xfrm>
            <a:off x="2044168" y="2325544"/>
            <a:ext cx="6183811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ko-KR" altLang="en-US" sz="2000" dirty="0">
                <a:solidFill>
                  <a:srgbClr val="19264B"/>
                </a:solidFill>
                <a:latin typeface="NanumGothic ExtraBold"/>
                <a:ea typeface="NanumGothic ExtraBold"/>
                <a:cs typeface="NanumGothic ExtraBold"/>
                <a:sym typeface="NanumGothic ExtraBold"/>
              </a:rPr>
              <a:t>감사합니다</a:t>
            </a:r>
            <a:endParaRPr kumimoji="1"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372012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</TotalTime>
  <Words>225</Words>
  <Application>Microsoft Macintosh PowerPoint</Application>
  <PresentationFormat>화면 슬라이드 쇼(16:9)</PresentationFormat>
  <Paragraphs>95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NanumGothic ExtraBold</vt:lpstr>
      <vt:lpstr>나눔바른고딕</vt:lpstr>
      <vt:lpstr>Arial</vt:lpstr>
      <vt:lpstr>NanumGothic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김세린</dc:creator>
  <cp:lastModifiedBy>김성민</cp:lastModifiedBy>
  <cp:revision>14</cp:revision>
  <dcterms:modified xsi:type="dcterms:W3CDTF">2025-11-04T09:44:50Z</dcterms:modified>
</cp:coreProperties>
</file>