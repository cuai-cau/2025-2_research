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72" r:id="rId4"/>
    <p:sldId id="273" r:id="rId5"/>
    <p:sldId id="275" r:id="rId6"/>
    <p:sldId id="274" r:id="rId7"/>
    <p:sldId id="276" r:id="rId8"/>
    <p:sldId id="277" r:id="rId9"/>
    <p:sldId id="261" r:id="rId10"/>
  </p:sldIdLst>
  <p:sldSz cx="9144000" cy="5143500" type="screen16x9"/>
  <p:notesSz cx="6858000" cy="9144000"/>
  <p:embeddedFontLst>
    <p:embeddedFont>
      <p:font typeface="NanumGothic ExtraBold" panose="020B0600000101010101" charset="-127"/>
      <p:bold r:id="rId12"/>
    </p:embeddedFont>
    <p:embeddedFont>
      <p:font typeface="NanumGothic" pitchFamily="2" charset="-127"/>
      <p:regular r:id="rId13"/>
      <p:bold r:id="rId14"/>
    </p:embeddedFont>
    <p:embeddedFont>
      <p:font typeface="나눔바른고딕" panose="020B0600000101010101" charset="-127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CE0"/>
    <a:srgbClr val="A1ADCB"/>
    <a:srgbClr val="43568B"/>
    <a:srgbClr val="6A738C"/>
    <a:srgbClr val="212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94637"/>
  </p:normalViewPr>
  <p:slideViewPr>
    <p:cSldViewPr snapToGrid="0">
      <p:cViewPr varScale="1">
        <p:scale>
          <a:sx n="111" d="100"/>
          <a:sy n="111" d="100"/>
        </p:scale>
        <p:origin x="318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02E7100-3170-DE37-8F14-C61D3476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08D8E16E-7577-10A4-7812-74591EC1A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6A2490AF-F2A8-E6A9-9308-3946A669F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98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2732502-1B50-1787-7E08-31C56C8D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E9B81FA-C727-B69E-B0E6-B2F19F0C88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717752B0-3EDE-66BF-7973-C89313150A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542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D40E27C-24AA-2FAE-CD3F-DE1E48F7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A39A00E-FF38-FB87-24DB-EA7B4F270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278DDCB-1895-8D78-9656-B5F5CA721B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80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13F25B4-529D-75F1-8C0B-B804B165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576DDBC-87D6-5C90-6198-E6F9EB469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0117AF30-3EB0-6E5C-A18E-7AF16F39F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9879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83AE698-0F22-6C2F-958D-4595A0DE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22AEC9FF-5F77-1738-EE42-299B78419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F5F5AF54-3F70-7632-EF3A-D3149B242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334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2A89AB8-1CF7-2B1D-0D9A-8DDEC781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21FB9B8-2BFF-CE3B-6E5D-E69A42FB3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84751BB-9100-CABE-0BDE-0FBC41A06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593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4A342E1-786B-B7AB-503B-6FBE2926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CE24EC1-777F-734B-402F-5DCDC84B8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896FB6B-6E78-AD1D-9E55-C7FECE67D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74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6874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Research. MM 2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11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25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남승운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동아리원</a:t>
            </a:r>
            <a:r>
              <a:rPr lang="ko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 소개 및 만남 인증</a:t>
            </a:r>
            <a:endParaRPr sz="2000" b="1" dirty="0">
              <a:solidFill>
                <a:srgbClr val="19264B"/>
              </a:solidFill>
              <a:latin typeface="+mj-lt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790746" y="1733039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1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김성민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2 :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남승운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3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황민아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8F8E9C6-3AE8-8063-6E5A-BCB07B64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A073FAF-503B-DE85-F64A-1F1CA0DC22E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F317D448-6716-35EC-1342-6E2A13E4A9E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52C60277-C55E-1127-51E0-A8DFEC9D00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1DFAE15-8B65-DAAF-4090-3E5991D03B9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연구</a:t>
            </a:r>
            <a:r>
              <a:rPr lang="en-US" alt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6E210583-6ADB-9BB9-B302-FF231613A70D}"/>
              </a:ext>
            </a:extLst>
          </p:cNvPr>
          <p:cNvSpPr txBox="1"/>
          <p:nvPr/>
        </p:nvSpPr>
        <p:spPr>
          <a:xfrm>
            <a:off x="1545560" y="845454"/>
            <a:ext cx="7049225" cy="18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Vision </a:t>
            </a:r>
            <a:r>
              <a:rPr lang="en-US" altLang="ko-KR" sz="1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Endoder</a:t>
            </a:r>
            <a:r>
              <a:rPr lang="en-US" altLang="ko-KR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중간 계층 </a:t>
            </a:r>
            <a:r>
              <a:rPr lang="ko-KR" altLang="en-US" sz="1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임베딩을</a:t>
            </a:r>
            <a:r>
              <a:rPr lang="ko-KR" altLang="en-US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효과적으로 선택하여 공간정보 손실을 최소화하고 위치 추론의 성능을 확보</a:t>
            </a: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735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9722044-57F9-A59A-BCBE-B95DBC14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F6616C6-8102-FA62-B17B-6339568719B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BC896ED-1509-CD3B-0DF5-316D9BACE1F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10C6B9E-3EE6-92C7-864F-4D0CF53903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5B7E43E-367D-8B8F-F3D2-F1708093CD6D}"/>
              </a:ext>
            </a:extLst>
          </p:cNvPr>
          <p:cNvSpPr txBox="1"/>
          <p:nvPr/>
        </p:nvSpPr>
        <p:spPr>
          <a:xfrm>
            <a:off x="1320437" y="152142"/>
            <a:ext cx="7043070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3200" b="1" dirty="0" err="1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SpatialRGPT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73C7029D-F0E9-EDB9-CEB4-6E6D0CDAF518}"/>
              </a:ext>
            </a:extLst>
          </p:cNvPr>
          <p:cNvSpPr txBox="1"/>
          <p:nvPr/>
        </p:nvSpPr>
        <p:spPr>
          <a:xfrm>
            <a:off x="1425429" y="3341144"/>
            <a:ext cx="7043070" cy="13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Input RGB(D)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Visual Backbone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Connector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LLM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8ADB8F-2BC3-8294-5605-941BF50AA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928551"/>
            <a:ext cx="6833085" cy="24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9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EC0E946-8B61-3B32-C0D3-2E157342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BF7E75D-52D2-892E-E410-4B048D5DC33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8DF13E68-4FB5-C0F5-1A8E-6E7889776DF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E29F3870-1716-C201-171D-82978FF2DF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F3F4DC6-4716-683F-0424-1F3C2DEF900E}"/>
              </a:ext>
            </a:extLst>
          </p:cNvPr>
          <p:cNvSpPr txBox="1"/>
          <p:nvPr/>
        </p:nvSpPr>
        <p:spPr>
          <a:xfrm>
            <a:off x="1320437" y="152142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Connector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73009447-BC76-EE8D-2D04-CF976624181D}"/>
              </a:ext>
            </a:extLst>
          </p:cNvPr>
          <p:cNvSpPr txBox="1"/>
          <p:nvPr/>
        </p:nvSpPr>
        <p:spPr>
          <a:xfrm>
            <a:off x="1577289" y="1003992"/>
            <a:ext cx="6878333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dirty="0"/>
              <a:t>RGB connector: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질감</a:t>
            </a:r>
            <a:r>
              <a:rPr lang="en-US" altLang="ko-KR" dirty="0"/>
              <a:t>, </a:t>
            </a:r>
            <a:r>
              <a:rPr lang="ko-KR" altLang="en-US" dirty="0"/>
              <a:t>물체의 경계 등의 </a:t>
            </a:r>
            <a:r>
              <a:rPr lang="en-US" altLang="ko-KR" dirty="0"/>
              <a:t>visual feature </a:t>
            </a:r>
            <a:r>
              <a:rPr lang="ko-KR" altLang="en-US" dirty="0"/>
              <a:t>포착</a:t>
            </a:r>
            <a:endParaRPr lang="en-US" altLang="ko-KR" dirty="0"/>
          </a:p>
          <a:p>
            <a:pPr>
              <a:lnSpc>
                <a:spcPct val="115000"/>
              </a:lnSpc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형태와 의미 정보를 제공</a:t>
            </a:r>
            <a:endParaRPr lang="en-US" altLang="ko-KR" dirty="0"/>
          </a:p>
          <a:p>
            <a:pPr>
              <a:lnSpc>
                <a:spcPct val="115000"/>
              </a:lnSpc>
            </a:pPr>
            <a:endParaRPr lang="en-US" altLang="ko-KR" dirty="0"/>
          </a:p>
          <a:p>
            <a:pPr>
              <a:lnSpc>
                <a:spcPct val="115000"/>
              </a:lnSpc>
            </a:pPr>
            <a:endParaRPr lang="en-US" altLang="ko-KR" dirty="0"/>
          </a:p>
          <a:p>
            <a:pPr>
              <a:lnSpc>
                <a:spcPct val="115000"/>
              </a:lnSpc>
            </a:pPr>
            <a:r>
              <a:rPr lang="en-US" altLang="ko-KR" dirty="0"/>
              <a:t>Depth connector: </a:t>
            </a:r>
            <a:r>
              <a:rPr lang="ko-KR" altLang="en-US" dirty="0"/>
              <a:t>깊이 정보를 연동하여 객체 간 </a:t>
            </a:r>
            <a:r>
              <a:rPr lang="en-US" altLang="ko-KR" dirty="0"/>
              <a:t>3D </a:t>
            </a:r>
            <a:r>
              <a:rPr lang="ko-KR" altLang="en-US" dirty="0"/>
              <a:t>공간정보를 특성에 포함</a:t>
            </a:r>
            <a:endParaRPr lang="en-US" altLang="ko-KR" dirty="0"/>
          </a:p>
          <a:p>
            <a:pPr>
              <a:lnSpc>
                <a:spcPct val="115000"/>
              </a:lnSpc>
            </a:pPr>
            <a:r>
              <a:rPr lang="en-US" altLang="ko-KR" dirty="0">
                <a:sym typeface="Wingdings" panose="05000000000000000000" pitchFamily="2" charset="2"/>
              </a:rPr>
              <a:t> 3D </a:t>
            </a:r>
            <a:r>
              <a:rPr lang="ko-KR" altLang="en-US" dirty="0">
                <a:sym typeface="Wingdings" panose="05000000000000000000" pitchFamily="2" charset="2"/>
              </a:rPr>
              <a:t>공간정보만 따로 뽑아서 </a:t>
            </a:r>
            <a:r>
              <a:rPr lang="en-US" altLang="ko-KR" dirty="0">
                <a:sym typeface="Wingdings" panose="05000000000000000000" pitchFamily="2" charset="2"/>
              </a:rPr>
              <a:t>LLM</a:t>
            </a:r>
            <a:r>
              <a:rPr lang="ko-KR" altLang="en-US" dirty="0">
                <a:sym typeface="Wingdings" panose="05000000000000000000" pitchFamily="2" charset="2"/>
              </a:rPr>
              <a:t>에 전달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885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A5873AB-10A9-453E-3E51-0150F9CA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17FCD10-18AD-0E30-88A5-22018480F52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5D405525-782E-6CB2-E5C4-2CCAC3751CF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44332328-36FE-237F-800B-223F0A5DE3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BB78986-801E-1806-99B4-0E083D11D6A3}"/>
              </a:ext>
            </a:extLst>
          </p:cNvPr>
          <p:cNvSpPr txBox="1"/>
          <p:nvPr/>
        </p:nvSpPr>
        <p:spPr>
          <a:xfrm>
            <a:off x="1320437" y="108598"/>
            <a:ext cx="7043070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32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Problem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A990E6EB-73E1-F47D-735B-FB03BB08693A}"/>
              </a:ext>
            </a:extLst>
          </p:cNvPr>
          <p:cNvSpPr txBox="1"/>
          <p:nvPr/>
        </p:nvSpPr>
        <p:spPr>
          <a:xfrm>
            <a:off x="1402805" y="859543"/>
            <a:ext cx="6878333" cy="21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b="1" dirty="0">
                <a:solidFill>
                  <a:schemeClr val="tx1"/>
                </a:solidFill>
              </a:rPr>
              <a:t>어떤 </a:t>
            </a:r>
            <a:r>
              <a:rPr lang="en-US" altLang="ko-KR" b="1" dirty="0">
                <a:solidFill>
                  <a:schemeClr val="tx1"/>
                </a:solidFill>
              </a:rPr>
              <a:t>layer</a:t>
            </a:r>
            <a:r>
              <a:rPr lang="ko-KR" altLang="en-US" b="1" dirty="0">
                <a:solidFill>
                  <a:schemeClr val="tx1"/>
                </a:solidFill>
              </a:rPr>
              <a:t>가 </a:t>
            </a:r>
            <a:r>
              <a:rPr lang="en-US" altLang="ko-KR" b="1" dirty="0">
                <a:solidFill>
                  <a:schemeClr val="tx1"/>
                </a:solidFill>
              </a:rPr>
              <a:t>VLM</a:t>
            </a:r>
            <a:r>
              <a:rPr lang="ko-KR" altLang="en-US" b="1" dirty="0">
                <a:solidFill>
                  <a:schemeClr val="tx1"/>
                </a:solidFill>
              </a:rPr>
              <a:t>에서 가장 풍부한 공간 정보를 보존하는가</a:t>
            </a:r>
            <a:r>
              <a:rPr lang="en-US" altLang="ko-KR" b="1" dirty="0">
                <a:solidFill>
                  <a:schemeClr val="tx1"/>
                </a:solidFill>
              </a:rPr>
              <a:t>?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b="1" dirty="0">
                <a:solidFill>
                  <a:schemeClr val="tx1"/>
                </a:solidFill>
              </a:rPr>
              <a:t>중간 계층 </a:t>
            </a:r>
            <a:r>
              <a:rPr lang="en-US" altLang="ko-KR" b="1" dirty="0">
                <a:solidFill>
                  <a:schemeClr val="tx1"/>
                </a:solidFill>
              </a:rPr>
              <a:t>feature</a:t>
            </a:r>
            <a:r>
              <a:rPr lang="ko-KR" altLang="en-US" b="1" dirty="0">
                <a:solidFill>
                  <a:schemeClr val="tx1"/>
                </a:solidFill>
              </a:rPr>
              <a:t>를 어떻게 조합하면 공간 추론 성능이 극대화 되는가</a:t>
            </a:r>
            <a:r>
              <a:rPr lang="en-US" altLang="ko-KR" b="1" dirty="0">
                <a:solidFill>
                  <a:schemeClr val="tx1"/>
                </a:solidFill>
              </a:rPr>
              <a:t>?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b="1" dirty="0">
                <a:solidFill>
                  <a:schemeClr val="tx1"/>
                </a:solidFill>
              </a:rPr>
              <a:t>VLM</a:t>
            </a:r>
            <a:r>
              <a:rPr lang="ko-KR" altLang="en-US" b="1" dirty="0">
                <a:solidFill>
                  <a:schemeClr val="tx1"/>
                </a:solidFill>
              </a:rPr>
              <a:t>마다 비전 인코더의 계층별 역할이 어떻게 다르고 왜 차이가 발생하는가</a:t>
            </a:r>
            <a:r>
              <a:rPr lang="en-US" altLang="ko-KR" b="1" dirty="0">
                <a:solidFill>
                  <a:schemeClr val="tx1"/>
                </a:solidFill>
              </a:rPr>
              <a:t>?</a:t>
            </a:r>
          </a:p>
          <a:p>
            <a:pPr lvl="0">
              <a:lnSpc>
                <a:spcPct val="115000"/>
              </a:lnSpc>
            </a:pPr>
            <a:endParaRPr lang="en-US" altLang="ko-KR" b="1" dirty="0">
              <a:solidFill>
                <a:schemeClr val="tx1"/>
              </a:solidFill>
            </a:endParaRPr>
          </a:p>
          <a:p>
            <a:pPr lvl="0">
              <a:lnSpc>
                <a:spcPct val="115000"/>
              </a:lnSpc>
            </a:pPr>
            <a:endParaRPr lang="en-US" altLang="ko-KR" b="1" dirty="0">
              <a:solidFill>
                <a:schemeClr val="tx1"/>
              </a:solidFill>
            </a:endParaRPr>
          </a:p>
          <a:p>
            <a:pPr lvl="0">
              <a:lnSpc>
                <a:spcPct val="115000"/>
              </a:lnSpc>
            </a:pPr>
            <a:endParaRPr lang="en-US" altLang="ko-K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69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112FCE9-7AA8-7164-DAC6-23A510E6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45937DF-11C2-8915-49EA-07B722CA2F7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C83DF101-173D-727F-0525-EA573A8806C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5FA7FB64-363A-0B89-A71E-E9CA3132A1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3F73763D-2F88-750E-4D36-E8E8199C741C}"/>
              </a:ext>
            </a:extLst>
          </p:cNvPr>
          <p:cNvSpPr txBox="1"/>
          <p:nvPr/>
        </p:nvSpPr>
        <p:spPr>
          <a:xfrm>
            <a:off x="1320437" y="108598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Step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402A391A-8EAB-7262-B76B-42D8A0FD75DE}"/>
              </a:ext>
            </a:extLst>
          </p:cNvPr>
          <p:cNvSpPr txBox="1"/>
          <p:nvPr/>
        </p:nvSpPr>
        <p:spPr>
          <a:xfrm>
            <a:off x="1402805" y="1055550"/>
            <a:ext cx="6878333" cy="241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b="1" dirty="0">
                <a:solidFill>
                  <a:schemeClr val="tx1"/>
                </a:solidFill>
              </a:rPr>
              <a:t>중간 </a:t>
            </a:r>
            <a:r>
              <a:rPr lang="en-US" altLang="ko-KR" b="1" dirty="0">
                <a:solidFill>
                  <a:schemeClr val="tx1"/>
                </a:solidFill>
              </a:rPr>
              <a:t>layer </a:t>
            </a:r>
            <a:r>
              <a:rPr lang="ko-KR" altLang="en-US" b="1" dirty="0">
                <a:solidFill>
                  <a:schemeClr val="tx1"/>
                </a:solidFill>
              </a:rPr>
              <a:t>출력 추출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b="1" dirty="0">
                <a:solidFill>
                  <a:schemeClr val="tx1"/>
                </a:solidFill>
              </a:rPr>
              <a:t>성능 평가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b="1" dirty="0">
                <a:solidFill>
                  <a:schemeClr val="tx1"/>
                </a:solidFill>
              </a:rPr>
              <a:t>계층별 시각화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b="1" dirty="0">
                <a:solidFill>
                  <a:schemeClr val="tx1"/>
                </a:solidFill>
              </a:rPr>
              <a:t>모델 비교 및 분석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b="1" dirty="0">
                <a:solidFill>
                  <a:schemeClr val="tx1"/>
                </a:solidFill>
              </a:rPr>
              <a:t>결과를 활용하여 </a:t>
            </a:r>
            <a:r>
              <a:rPr lang="en-US" altLang="ko-KR" b="1" dirty="0">
                <a:solidFill>
                  <a:schemeClr val="tx1"/>
                </a:solidFill>
              </a:rPr>
              <a:t>VLM </a:t>
            </a:r>
            <a:r>
              <a:rPr lang="ko-KR" altLang="en-US" b="1" dirty="0">
                <a:solidFill>
                  <a:schemeClr val="tx1"/>
                </a:solidFill>
              </a:rPr>
              <a:t>설계 개선 방안 모색</a:t>
            </a:r>
            <a:endParaRPr lang="en-US" altLang="ko-K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551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EC4B15D1-107F-6806-87C2-B9B93EFC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87C4D92-BF09-BD73-B563-29D511F6BAB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4EE6C9F-A090-9252-74DE-79ABE687087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B7802B8A-BDCF-FB73-82EF-B68D9130639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EB458D9-94A7-6757-76E3-6EBFC836681A}"/>
              </a:ext>
            </a:extLst>
          </p:cNvPr>
          <p:cNvSpPr txBox="1"/>
          <p:nvPr/>
        </p:nvSpPr>
        <p:spPr>
          <a:xfrm>
            <a:off x="1320437" y="108598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진행상황</a:t>
            </a:r>
            <a:endParaRPr lang="en-US" altLang="ko-KR" sz="20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E97BDA82-772A-7451-D5ED-C08C11D78404}"/>
              </a:ext>
            </a:extLst>
          </p:cNvPr>
          <p:cNvSpPr txBox="1"/>
          <p:nvPr/>
        </p:nvSpPr>
        <p:spPr>
          <a:xfrm>
            <a:off x="1402805" y="758752"/>
            <a:ext cx="6878333" cy="276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5FBB2AB2-0C32-128E-6622-257A32B1BE0A}"/>
              </a:ext>
            </a:extLst>
          </p:cNvPr>
          <p:cNvSpPr txBox="1"/>
          <p:nvPr/>
        </p:nvSpPr>
        <p:spPr>
          <a:xfrm>
            <a:off x="1485174" y="1055550"/>
            <a:ext cx="748595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중간 </a:t>
            </a:r>
            <a:r>
              <a:rPr lang="en-US" altLang="ko-KR" sz="1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layer </a:t>
            </a:r>
            <a:r>
              <a:rPr lang="ko-KR" altLang="en-US" sz="1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추출 및 비교분석</a:t>
            </a:r>
            <a:r>
              <a:rPr lang="en-US" altLang="ko-KR" sz="1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...</a:t>
            </a:r>
            <a:r>
              <a:rPr lang="ko-KR" altLang="en-US" sz="1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 </a:t>
            </a:r>
            <a:endParaRPr sz="2800" b="1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9616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0F54809-D650-C4DF-7EE4-F44E0B48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B775852-1155-B97D-EF57-DFE65159CA2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52188EA-7BD3-DCFA-B87B-7B4B0226AF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0522869-B24F-128B-864B-4D9C926DB2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ABA7F94-F950-BFBF-393C-32373EB2CCEC}"/>
              </a:ext>
            </a:extLst>
          </p:cNvPr>
          <p:cNvSpPr txBox="1"/>
          <p:nvPr/>
        </p:nvSpPr>
        <p:spPr>
          <a:xfrm>
            <a:off x="2044168" y="2325544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72012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163</Words>
  <Application>Microsoft Office PowerPoint</Application>
  <PresentationFormat>화면 슬라이드 쇼(16:9)</PresentationFormat>
  <Paragraphs>51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나눔바른고딕</vt:lpstr>
      <vt:lpstr>Wingdings</vt:lpstr>
      <vt:lpstr>NanumGothic</vt:lpstr>
      <vt:lpstr>Arial</vt:lpstr>
      <vt:lpstr>NanumGothic ExtraBold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승운 남</cp:lastModifiedBy>
  <cp:revision>15</cp:revision>
  <dcterms:modified xsi:type="dcterms:W3CDTF">2025-11-25T08:41:50Z</dcterms:modified>
</cp:coreProperties>
</file>